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5" r:id="rId2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01" d="100"/>
          <a:sy n="101" d="100"/>
        </p:scale>
        <p:origin x="876" y="9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presProps" Target="presProps.xml"/><Relationship Id="rId8" Type="http://schemas.openxmlformats.org/officeDocument/2006/relationships/slide" Target="slides/slide7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6/9/2026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6/9/2026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6/9/2026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6/9/2026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12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1828800" y="1371600"/>
            <a:ext cx="8534095" cy="4114800"/>
          </a:xfrm>
          <a:prstGeom prst="roundRect">
            <a:avLst>
              <a:gd name="adj" fmla="val 6000"/>
            </a:avLst>
          </a:prstGeom>
          <a:solidFill>
            <a:srgbClr val="161D24"/>
          </a:solidFill>
          <a:ln w="15240">
            <a:solidFill>
              <a:srgbClr val="2EE6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2103120" y="1645920"/>
            <a:ext cx="7955279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4800" b="1">
                <a:solidFill>
                  <a:srgbClr val="2EE6F6"/>
                </a:solidFill>
                <a:latin typeface="Calibri"/>
              </a:rPr>
              <a:t>CarePlus Predict V2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103120" y="2651760"/>
            <a:ext cx="7955279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800" b="0">
                <a:solidFill>
                  <a:srgbClr val="EAFBFF"/>
                </a:solidFill>
                <a:latin typeface="Calibri"/>
              </a:rPr>
              <a:t>Plataforma de telessaúde com Inteligência Artificial integrada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103120" y="3383280"/>
            <a:ext cx="7955279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400" b="0">
                <a:solidFill>
                  <a:srgbClr val="82A2B8"/>
                </a:solidFill>
                <a:latin typeface="Calibri"/>
              </a:rPr>
              <a:t>RAG · HITL · Chat clínico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103120" y="4114800"/>
            <a:ext cx="7955279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300" b="1">
                <a:solidFill>
                  <a:srgbClr val="2EE6F6"/>
                </a:solidFill>
                <a:latin typeface="Calibri"/>
              </a:rPr>
              <a:t>GRUPO NEXTGEN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103120" y="4480560"/>
            <a:ext cx="7955279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100" b="0">
                <a:solidFill>
                  <a:srgbClr val="EAFBFF"/>
                </a:solidFill>
                <a:latin typeface="Calibri"/>
              </a:rPr>
              <a:t>Gustavo Franzoti Gonçalves · RM 566983     Lincoln Simão Pereira · RM 567284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103120" y="4800600"/>
            <a:ext cx="7955279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100" b="0">
                <a:solidFill>
                  <a:srgbClr val="EAFBFF"/>
                </a:solidFill>
                <a:latin typeface="Calibri"/>
              </a:rPr>
              <a:t>Maykon Santana Fonseca · RM 567041     Nicolas Sakaue Nishimura · RM 567752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103120" y="5669280"/>
            <a:ext cx="7955279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100" b="1">
                <a:solidFill>
                  <a:srgbClr val="82A2B8"/>
                </a:solidFill>
                <a:latin typeface="Calibri"/>
              </a:rPr>
              <a:t>Orientador: Prof. Dr. Allan Roberto Molto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103120" y="6035040"/>
            <a:ext cx="7955279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000" b="0">
                <a:solidFill>
                  <a:srgbClr val="82A2B8"/>
                </a:solidFill>
                <a:latin typeface="Calibri"/>
              </a:rPr>
              <a:t>FIAP — Trabalho de Conclusão de Curso — Junho de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12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365760"/>
            <a:ext cx="1106424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200" b="1">
                <a:solidFill>
                  <a:srgbClr val="2EE6F6"/>
                </a:solidFill>
                <a:latin typeface="Calibri"/>
              </a:rPr>
              <a:t>Agenda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051560"/>
            <a:ext cx="1097280" cy="28000"/>
          </a:xfrm>
          <a:prstGeom prst="rect">
            <a:avLst/>
          </a:prstGeom>
          <a:solidFill>
            <a:srgbClr val="2EE6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48640" y="6492240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0">
                <a:solidFill>
                  <a:srgbClr val="82A2B8"/>
                </a:solidFill>
                <a:latin typeface="Calibri"/>
              </a:rPr>
              <a:t>CarePlus Predict V2 · Grupo NextGen · FIAP TCC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698480" y="6492240"/>
            <a:ext cx="914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000" b="1">
                <a:solidFill>
                  <a:srgbClr val="82A2B8"/>
                </a:solidFill>
                <a:latin typeface="Calibri"/>
              </a:rPr>
              <a:t>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463040"/>
            <a:ext cx="73152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4000" b="1">
                <a:solidFill>
                  <a:srgbClr val="2EE6F6"/>
                </a:solidFill>
                <a:latin typeface="Calibri"/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463040" y="1600200"/>
            <a:ext cx="50292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0">
                <a:solidFill>
                  <a:srgbClr val="EAFBFF"/>
                </a:solidFill>
                <a:latin typeface="Calibri"/>
              </a:rPr>
              <a:t>O problema clínico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2606040"/>
            <a:ext cx="73152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4000" b="1">
                <a:solidFill>
                  <a:srgbClr val="2EE6F6"/>
                </a:solidFill>
                <a:latin typeface="Calibri"/>
              </a:rPr>
              <a:t>02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63040" y="2743200"/>
            <a:ext cx="50292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0">
                <a:solidFill>
                  <a:srgbClr val="EAFBFF"/>
                </a:solidFill>
                <a:latin typeface="Calibri"/>
              </a:rPr>
              <a:t>A solução: três IAs integradas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3749039"/>
            <a:ext cx="73152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4000" b="1">
                <a:solidFill>
                  <a:srgbClr val="2EE6F6"/>
                </a:solidFill>
                <a:latin typeface="Calibri"/>
              </a:rPr>
              <a:t>03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463040" y="3886200"/>
            <a:ext cx="50292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0">
                <a:solidFill>
                  <a:srgbClr val="EAFBFF"/>
                </a:solidFill>
                <a:latin typeface="Calibri"/>
              </a:rPr>
              <a:t>Arquitetura e stack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4892040"/>
            <a:ext cx="73152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4000" b="1">
                <a:solidFill>
                  <a:srgbClr val="2EE6F6"/>
                </a:solidFill>
                <a:latin typeface="Calibri"/>
              </a:rPr>
              <a:t>04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63040" y="5029200"/>
            <a:ext cx="50292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0">
                <a:solidFill>
                  <a:srgbClr val="EAFBFF"/>
                </a:solidFill>
                <a:latin typeface="Calibri"/>
              </a:rPr>
              <a:t>IA 1 · RAG para o médico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0" y="1463040"/>
            <a:ext cx="73152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4000" b="1">
                <a:solidFill>
                  <a:srgbClr val="2EE6F6"/>
                </a:solidFill>
                <a:latin typeface="Calibri"/>
              </a:rPr>
              <a:t>05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5200" y="1600200"/>
            <a:ext cx="50292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0">
                <a:solidFill>
                  <a:srgbClr val="EAFBFF"/>
                </a:solidFill>
                <a:latin typeface="Calibri"/>
              </a:rPr>
              <a:t>IA 2 · Prescrição com HITL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0" y="2606040"/>
            <a:ext cx="73152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4000" b="1">
                <a:solidFill>
                  <a:srgbClr val="2EE6F6"/>
                </a:solidFill>
                <a:latin typeface="Calibri"/>
              </a:rPr>
              <a:t>06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15200" y="2743200"/>
            <a:ext cx="50292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0">
                <a:solidFill>
                  <a:srgbClr val="EAFBFF"/>
                </a:solidFill>
                <a:latin typeface="Calibri"/>
              </a:rPr>
              <a:t>IA 3 · Chat clínico para o paciente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0" y="3749039"/>
            <a:ext cx="73152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4000" b="1">
                <a:solidFill>
                  <a:srgbClr val="2EE6F6"/>
                </a:solidFill>
                <a:latin typeface="Calibri"/>
              </a:rPr>
              <a:t>07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315200" y="3886200"/>
            <a:ext cx="50292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0">
                <a:solidFill>
                  <a:srgbClr val="EAFBFF"/>
                </a:solidFill>
                <a:latin typeface="Calibri"/>
              </a:rPr>
              <a:t>Estado atual e compliance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0" y="4892040"/>
            <a:ext cx="73152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4000" b="1">
                <a:solidFill>
                  <a:srgbClr val="2EE6F6"/>
                </a:solidFill>
                <a:latin typeface="Calibri"/>
              </a:rPr>
              <a:t>08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315200" y="5029200"/>
            <a:ext cx="50292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0">
                <a:solidFill>
                  <a:srgbClr val="EAFBFF"/>
                </a:solidFill>
                <a:latin typeface="Calibri"/>
              </a:rPr>
              <a:t>Roadmap e próximos passos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12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365760"/>
            <a:ext cx="1106424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200" b="1">
                <a:solidFill>
                  <a:srgbClr val="2EE6F6"/>
                </a:solidFill>
                <a:latin typeface="Calibri"/>
              </a:rPr>
              <a:t>O problema clínico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051560"/>
            <a:ext cx="1097280" cy="28000"/>
          </a:xfrm>
          <a:prstGeom prst="rect">
            <a:avLst/>
          </a:prstGeom>
          <a:solidFill>
            <a:srgbClr val="2EE6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48640" y="6492240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0">
                <a:solidFill>
                  <a:srgbClr val="82A2B8"/>
                </a:solidFill>
                <a:latin typeface="Calibri"/>
              </a:rPr>
              <a:t>CarePlus Predict V2 · Grupo NextGen · FIAP TCC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698480" y="6492240"/>
            <a:ext cx="914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000" b="1">
                <a:solidFill>
                  <a:srgbClr val="82A2B8"/>
                </a:solidFill>
                <a:latin typeface="Calibri"/>
              </a:rPr>
              <a:t>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645920"/>
            <a:ext cx="1106424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800" b="1">
                <a:solidFill>
                  <a:srgbClr val="EAFBFF"/>
                </a:solidFill>
                <a:latin typeface="Calibri"/>
              </a:rPr>
              <a:t>O paciente sai do consultório e fica em silêncio até a próxima consulta.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2560320"/>
            <a:ext cx="1106424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000" b="0">
                <a:solidFill>
                  <a:srgbClr val="82A2B8"/>
                </a:solidFill>
                <a:latin typeface="Calibri"/>
              </a:rPr>
              <a:t>O médico decide com memória, intuição e meia hora de conversa.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3931920"/>
            <a:ext cx="3657600" cy="2103120"/>
          </a:xfrm>
          <a:prstGeom prst="roundRect">
            <a:avLst>
              <a:gd name="adj" fmla="val 6000"/>
            </a:avLst>
          </a:prstGeom>
          <a:solidFill>
            <a:srgbClr val="161D24"/>
          </a:solidFill>
          <a:ln w="15240">
            <a:solidFill>
              <a:srgbClr val="FF52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22959" y="4114800"/>
            <a:ext cx="320040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1">
                <a:solidFill>
                  <a:srgbClr val="FF5277"/>
                </a:solidFill>
                <a:latin typeface="Calibri"/>
              </a:rPr>
              <a:t>Perda de continuidade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59" y="4754880"/>
            <a:ext cx="3200400" cy="1280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0">
                <a:solidFill>
                  <a:srgbClr val="EAFBFF"/>
                </a:solidFill>
                <a:latin typeface="Calibri"/>
              </a:rPr>
              <a:t>Dados de saúde não acompanham o paciente fora da consulta.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434840" y="3931920"/>
            <a:ext cx="3657600" cy="2103120"/>
          </a:xfrm>
          <a:prstGeom prst="roundRect">
            <a:avLst>
              <a:gd name="adj" fmla="val 6000"/>
            </a:avLst>
          </a:prstGeom>
          <a:solidFill>
            <a:srgbClr val="161D24"/>
          </a:solidFill>
          <a:ln w="15240">
            <a:solidFill>
              <a:srgbClr val="FF52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709159" y="4114800"/>
            <a:ext cx="320040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1">
                <a:solidFill>
                  <a:srgbClr val="FF5277"/>
                </a:solidFill>
                <a:latin typeface="Calibri"/>
              </a:rPr>
              <a:t>Decisão sem contexto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709159" y="4754880"/>
            <a:ext cx="3200400" cy="1280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0">
                <a:solidFill>
                  <a:srgbClr val="EAFBFF"/>
                </a:solidFill>
                <a:latin typeface="Calibri"/>
              </a:rPr>
              <a:t>Histórico clínico fragmentado entre sistemas.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321040" y="3931920"/>
            <a:ext cx="3657600" cy="2103120"/>
          </a:xfrm>
          <a:prstGeom prst="roundRect">
            <a:avLst>
              <a:gd name="adj" fmla="val 6000"/>
            </a:avLst>
          </a:prstGeom>
          <a:solidFill>
            <a:srgbClr val="161D24"/>
          </a:solidFill>
          <a:ln w="15240">
            <a:solidFill>
              <a:srgbClr val="FF52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595360" y="4114800"/>
            <a:ext cx="320040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1">
                <a:solidFill>
                  <a:srgbClr val="FF5277"/>
                </a:solidFill>
                <a:latin typeface="Calibri"/>
              </a:rPr>
              <a:t>LLMs alucinam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595360" y="4754880"/>
            <a:ext cx="3200400" cy="1280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0">
                <a:solidFill>
                  <a:srgbClr val="EAFBFF"/>
                </a:solidFill>
                <a:latin typeface="Calibri"/>
              </a:rPr>
              <a:t>IAs comerciais inventam fontes — inaceitável em medicina.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12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365760"/>
            <a:ext cx="1106424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200" b="1">
                <a:solidFill>
                  <a:srgbClr val="2EE6F6"/>
                </a:solidFill>
                <a:latin typeface="Calibri"/>
              </a:rPr>
              <a:t>A solução: três IAs integradas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051560"/>
            <a:ext cx="1097280" cy="28000"/>
          </a:xfrm>
          <a:prstGeom prst="rect">
            <a:avLst/>
          </a:prstGeom>
          <a:solidFill>
            <a:srgbClr val="2EE6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48640" y="6492240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0">
                <a:solidFill>
                  <a:srgbClr val="82A2B8"/>
                </a:solidFill>
                <a:latin typeface="Calibri"/>
              </a:rPr>
              <a:t>CarePlus Predict V2 · Grupo NextGen · FIAP TCC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698480" y="6492240"/>
            <a:ext cx="914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000" b="1">
                <a:solidFill>
                  <a:srgbClr val="82A2B8"/>
                </a:solidFill>
                <a:latin typeface="Calibri"/>
              </a:rPr>
              <a:t>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371600"/>
            <a:ext cx="1106424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0">
                <a:solidFill>
                  <a:srgbClr val="82A2B8"/>
                </a:solidFill>
                <a:latin typeface="Calibri"/>
              </a:rPr>
              <a:t>Uma plataforma. Três IAs especializadas. Um princípio comum.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2286000"/>
            <a:ext cx="3657600" cy="3840480"/>
          </a:xfrm>
          <a:prstGeom prst="roundRect">
            <a:avLst>
              <a:gd name="adj" fmla="val 6000"/>
            </a:avLst>
          </a:prstGeom>
          <a:solidFill>
            <a:srgbClr val="161D24"/>
          </a:solidFill>
          <a:ln w="15240">
            <a:solidFill>
              <a:srgbClr val="2EE6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22959" y="2468880"/>
            <a:ext cx="320040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600" b="1">
                <a:solidFill>
                  <a:srgbClr val="2EE6F6"/>
                </a:solidFill>
                <a:latin typeface="Calibri"/>
              </a:rPr>
              <a:t>RAG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59" y="3291840"/>
            <a:ext cx="32004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1">
                <a:solidFill>
                  <a:srgbClr val="EAFBFF"/>
                </a:solidFill>
                <a:latin typeface="Calibri"/>
              </a:rPr>
              <a:t>IA do Médico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59" y="3931920"/>
            <a:ext cx="3200400" cy="20116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0">
                <a:solidFill>
                  <a:srgbClr val="EAFBFF"/>
                </a:solidFill>
                <a:latin typeface="Calibri"/>
              </a:rPr>
              <a:t>Respostas ancoradas em fontes verificáveis. Protocolos clínicos curados pelo próprio especialista.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434840" y="2286000"/>
            <a:ext cx="3657600" cy="3840480"/>
          </a:xfrm>
          <a:prstGeom prst="roundRect">
            <a:avLst>
              <a:gd name="adj" fmla="val 6000"/>
            </a:avLst>
          </a:prstGeom>
          <a:solidFill>
            <a:srgbClr val="161D24"/>
          </a:solidFill>
          <a:ln w="15240">
            <a:solidFill>
              <a:srgbClr val="2BFF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709159" y="2468880"/>
            <a:ext cx="320040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600" b="1">
                <a:solidFill>
                  <a:srgbClr val="2BFFC2"/>
                </a:solidFill>
                <a:latin typeface="Calibri"/>
              </a:rPr>
              <a:t>HITL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709159" y="3291840"/>
            <a:ext cx="32004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1">
                <a:solidFill>
                  <a:srgbClr val="EAFBFF"/>
                </a:solidFill>
                <a:latin typeface="Calibri"/>
              </a:rPr>
              <a:t>Prescrição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709159" y="3931920"/>
            <a:ext cx="3200400" cy="20116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0">
                <a:solidFill>
                  <a:srgbClr val="EAFBFF"/>
                </a:solidFill>
                <a:latin typeface="Calibri"/>
              </a:rPr>
              <a:t>Human-in-the-loop. A IA propõe, o médico decide. Pseudonimização nativa.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321040" y="2286000"/>
            <a:ext cx="3657600" cy="3840480"/>
          </a:xfrm>
          <a:prstGeom prst="roundRect">
            <a:avLst>
              <a:gd name="adj" fmla="val 6000"/>
            </a:avLst>
          </a:prstGeom>
          <a:solidFill>
            <a:srgbClr val="161D24"/>
          </a:solidFill>
          <a:ln w="15240">
            <a:solidFill>
              <a:srgbClr val="0179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595360" y="2468880"/>
            <a:ext cx="320040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600" b="1">
                <a:solidFill>
                  <a:srgbClr val="0179CF"/>
                </a:solidFill>
                <a:latin typeface="Calibri"/>
              </a:rPr>
              <a:t>Chat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595360" y="3291840"/>
            <a:ext cx="32004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1">
                <a:solidFill>
                  <a:srgbClr val="EAFBFF"/>
                </a:solidFill>
                <a:latin typeface="Calibri"/>
              </a:rPr>
              <a:t>Paciente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595360" y="3931920"/>
            <a:ext cx="3200400" cy="20116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0">
                <a:solidFill>
                  <a:srgbClr val="EAFBFF"/>
                </a:solidFill>
                <a:latin typeface="Calibri"/>
              </a:rPr>
              <a:t>Conversação 24/7 com contexto clínico rico. Detecção de red flags por palavras-chave.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12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365760"/>
            <a:ext cx="1106424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200" b="1">
                <a:solidFill>
                  <a:srgbClr val="2EE6F6"/>
                </a:solidFill>
                <a:latin typeface="Calibri"/>
              </a:rPr>
              <a:t>Princípio orientador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051560"/>
            <a:ext cx="1097280" cy="28000"/>
          </a:xfrm>
          <a:prstGeom prst="rect">
            <a:avLst/>
          </a:prstGeom>
          <a:solidFill>
            <a:srgbClr val="2EE6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48640" y="6492240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0">
                <a:solidFill>
                  <a:srgbClr val="82A2B8"/>
                </a:solidFill>
                <a:latin typeface="Calibri"/>
              </a:rPr>
              <a:t>CarePlus Predict V2 · Grupo NextGen · FIAP TCC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698480" y="6492240"/>
            <a:ext cx="914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000" b="1">
                <a:solidFill>
                  <a:srgbClr val="82A2B8"/>
                </a:solidFill>
                <a:latin typeface="Calibri"/>
              </a:rPr>
              <a:t>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286000"/>
            <a:ext cx="11064240" cy="1828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4000" b="1">
                <a:solidFill>
                  <a:srgbClr val="2EE6F6"/>
                </a:solidFill>
                <a:latin typeface="Calibri"/>
              </a:rPr>
              <a:t>"IA como apoio à decisão clínica,
jamais substituição."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4572000"/>
            <a:ext cx="1106424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2000" b="0">
                <a:solidFill>
                  <a:srgbClr val="82A2B8"/>
                </a:solidFill>
                <a:latin typeface="Calibri"/>
              </a:rPr>
              <a:t>Toda decisão regulada passa por humano.
Toda resposta tem fonte verificável.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12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365760"/>
            <a:ext cx="1106424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200" b="1">
                <a:solidFill>
                  <a:srgbClr val="2EE6F6"/>
                </a:solidFill>
                <a:latin typeface="Calibri"/>
              </a:rPr>
              <a:t>Identidade visual: três temas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051560"/>
            <a:ext cx="1097280" cy="28000"/>
          </a:xfrm>
          <a:prstGeom prst="rect">
            <a:avLst/>
          </a:prstGeom>
          <a:solidFill>
            <a:srgbClr val="2EE6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48640" y="6492240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0">
                <a:solidFill>
                  <a:srgbClr val="82A2B8"/>
                </a:solidFill>
                <a:latin typeface="Calibri"/>
              </a:rPr>
              <a:t>CarePlus Predict V2 · Grupo NextGen · FIAP TCC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698480" y="6492240"/>
            <a:ext cx="914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000" b="1">
                <a:solidFill>
                  <a:srgbClr val="82A2B8"/>
                </a:solidFill>
                <a:latin typeface="Calibri"/>
              </a:rPr>
              <a:t>6</a:t>
            </a:r>
          </a:p>
        </p:txBody>
      </p:sp>
      <p:pic>
        <p:nvPicPr>
          <p:cNvPr id="7" name="Picture 6" descr="tela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86465" y="1371600"/>
            <a:ext cx="2218764" cy="50292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4754880" y="1645920"/>
            <a:ext cx="685800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200" b="1">
                <a:solidFill>
                  <a:srgbClr val="2EE6F6"/>
                </a:solidFill>
                <a:latin typeface="Calibri"/>
              </a:rPr>
              <a:t>Personalização como diferencial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54880" y="2560320"/>
            <a:ext cx="68580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1">
                <a:solidFill>
                  <a:srgbClr val="2EE6F6"/>
                </a:solidFill>
                <a:latin typeface="Calibri"/>
              </a:rPr>
              <a:t>Claro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54880" y="2926079"/>
            <a:ext cx="685800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0">
                <a:solidFill>
                  <a:srgbClr val="EAFBFF"/>
                </a:solidFill>
                <a:latin typeface="Calibri"/>
              </a:rPr>
              <a:t>Consultórios diurnos, ambiente institucional.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754880" y="3657600"/>
            <a:ext cx="68580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1">
                <a:solidFill>
                  <a:srgbClr val="2EE6F6"/>
                </a:solidFill>
                <a:latin typeface="Calibri"/>
              </a:rPr>
              <a:t>Escuro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754880" y="4023360"/>
            <a:ext cx="685800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0">
                <a:solidFill>
                  <a:srgbClr val="EAFBFF"/>
                </a:solidFill>
                <a:latin typeface="Calibri"/>
              </a:rPr>
              <a:t>Plantões noturnos, especialistas com longas horas de tela.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754880" y="4754879"/>
            <a:ext cx="68580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1">
                <a:solidFill>
                  <a:srgbClr val="2EE6F6"/>
                </a:solidFill>
                <a:latin typeface="Calibri"/>
              </a:rPr>
              <a:t>Futurista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754880" y="5120640"/>
            <a:ext cx="685800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0">
                <a:solidFill>
                  <a:srgbClr val="EAFBFF"/>
                </a:solidFill>
                <a:latin typeface="Calibri"/>
              </a:rPr>
              <a:t>Glassmorphism + neon ciano + grade HUD. Diferencial de marca.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12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365760"/>
            <a:ext cx="1106424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200" b="1">
                <a:solidFill>
                  <a:srgbClr val="2EE6F6"/>
                </a:solidFill>
                <a:latin typeface="Calibri"/>
              </a:rPr>
              <a:t>Arquitetura macro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051560"/>
            <a:ext cx="1097280" cy="28000"/>
          </a:xfrm>
          <a:prstGeom prst="rect">
            <a:avLst/>
          </a:prstGeom>
          <a:solidFill>
            <a:srgbClr val="2EE6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48640" y="6492240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0">
                <a:solidFill>
                  <a:srgbClr val="82A2B8"/>
                </a:solidFill>
                <a:latin typeface="Calibri"/>
              </a:rPr>
              <a:t>CarePlus Predict V2 · Grupo NextGen · FIAP TCC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698480" y="6492240"/>
            <a:ext cx="914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000" b="1">
                <a:solidFill>
                  <a:srgbClr val="82A2B8"/>
                </a:solidFill>
                <a:latin typeface="Calibri"/>
              </a:rPr>
              <a:t>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371600"/>
            <a:ext cx="1106424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0">
                <a:solidFill>
                  <a:srgbClr val="82A2B8"/>
                </a:solidFill>
                <a:latin typeface="Calibri"/>
              </a:rPr>
              <a:t>3 serviços + 1 banco + 1 LLM externo. Separação clara de responsabilidades.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2286000"/>
            <a:ext cx="2103120" cy="2743200"/>
          </a:xfrm>
          <a:prstGeom prst="roundRect">
            <a:avLst>
              <a:gd name="adj" fmla="val 6000"/>
            </a:avLst>
          </a:prstGeom>
          <a:solidFill>
            <a:srgbClr val="161D24"/>
          </a:solidFill>
          <a:ln w="15240">
            <a:solidFill>
              <a:srgbClr val="0179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31520" y="2468880"/>
            <a:ext cx="173736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600" b="1">
                <a:solidFill>
                  <a:srgbClr val="0179CF"/>
                </a:solidFill>
                <a:latin typeface="Calibri"/>
              </a:rPr>
              <a:t>Cliente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3200400"/>
            <a:ext cx="1737360" cy="1645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100" b="0">
                <a:solidFill>
                  <a:srgbClr val="EAFBFF"/>
                </a:solidFill>
                <a:latin typeface="Calibri"/>
              </a:rPr>
              <a:t>React (web)
React Native (mobile)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560320" y="3383280"/>
            <a:ext cx="2286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2200" b="1">
                <a:solidFill>
                  <a:srgbClr val="2EE6F6"/>
                </a:solidFill>
                <a:latin typeface="Calibri"/>
              </a:rPr>
              <a:t>→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788920" y="2286000"/>
            <a:ext cx="2103120" cy="2743200"/>
          </a:xfrm>
          <a:prstGeom prst="roundRect">
            <a:avLst>
              <a:gd name="adj" fmla="val 6000"/>
            </a:avLst>
          </a:prstGeom>
          <a:solidFill>
            <a:srgbClr val="161D24"/>
          </a:solidFill>
          <a:ln w="15240">
            <a:solidFill>
              <a:srgbClr val="2BFF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2971800" y="2468880"/>
            <a:ext cx="173736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600" b="1">
                <a:solidFill>
                  <a:srgbClr val="2BFFC2"/>
                </a:solidFill>
                <a:latin typeface="Calibri"/>
              </a:rPr>
              <a:t>Orquestrador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971800" y="3200400"/>
            <a:ext cx="1737360" cy="1645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100" b="0">
                <a:solidFill>
                  <a:srgbClr val="EAFBFF"/>
                </a:solidFill>
                <a:latin typeface="Calibri"/>
              </a:rPr>
              <a:t>Fastify (Node.js)
Auth + regras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800600" y="3383280"/>
            <a:ext cx="2286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2200" b="1">
                <a:solidFill>
                  <a:srgbClr val="2EE6F6"/>
                </a:solidFill>
                <a:latin typeface="Calibri"/>
              </a:rPr>
              <a:t>→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029200" y="2286000"/>
            <a:ext cx="2103120" cy="2743200"/>
          </a:xfrm>
          <a:prstGeom prst="roundRect">
            <a:avLst>
              <a:gd name="adj" fmla="val 6000"/>
            </a:avLst>
          </a:prstGeom>
          <a:solidFill>
            <a:srgbClr val="161D24"/>
          </a:solidFill>
          <a:ln w="15240">
            <a:solidFill>
              <a:srgbClr val="2EE6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5212080" y="2468880"/>
            <a:ext cx="173736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600" b="1">
                <a:solidFill>
                  <a:srgbClr val="2EE6F6"/>
                </a:solidFill>
                <a:latin typeface="Calibri"/>
              </a:rPr>
              <a:t>ML / Prompt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212080" y="3200400"/>
            <a:ext cx="1737360" cy="1645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100" b="0">
                <a:solidFill>
                  <a:srgbClr val="EAFBFF"/>
                </a:solidFill>
                <a:latin typeface="Calibri"/>
              </a:rPr>
              <a:t>Blua (Python)
Sentence-Transformers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040880" y="3383280"/>
            <a:ext cx="2286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2200" b="1">
                <a:solidFill>
                  <a:srgbClr val="2EE6F6"/>
                </a:solidFill>
                <a:latin typeface="Calibri"/>
              </a:rPr>
              <a:t>→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269480" y="2286000"/>
            <a:ext cx="2103120" cy="2743200"/>
          </a:xfrm>
          <a:prstGeom prst="roundRect">
            <a:avLst>
              <a:gd name="adj" fmla="val 6000"/>
            </a:avLst>
          </a:prstGeom>
          <a:solidFill>
            <a:srgbClr val="161D24"/>
          </a:solidFill>
          <a:ln w="15240">
            <a:solidFill>
              <a:srgbClr val="FFD4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7452360" y="2468880"/>
            <a:ext cx="173736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600" b="1">
                <a:solidFill>
                  <a:srgbClr val="FFD45E"/>
                </a:solidFill>
                <a:latin typeface="Calibri"/>
              </a:rPr>
              <a:t>LLM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452360" y="3200400"/>
            <a:ext cx="1737360" cy="1645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100" b="0">
                <a:solidFill>
                  <a:srgbClr val="EAFBFF"/>
                </a:solidFill>
                <a:latin typeface="Calibri"/>
              </a:rPr>
              <a:t>Groq
Llama 3.1 70B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281160" y="3383280"/>
            <a:ext cx="2286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2200" b="1">
                <a:solidFill>
                  <a:srgbClr val="2EE6F6"/>
                </a:solidFill>
                <a:latin typeface="Calibri"/>
              </a:rPr>
              <a:t>→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9509760" y="2286000"/>
            <a:ext cx="2103120" cy="2743200"/>
          </a:xfrm>
          <a:prstGeom prst="roundRect">
            <a:avLst>
              <a:gd name="adj" fmla="val 6000"/>
            </a:avLst>
          </a:prstGeom>
          <a:solidFill>
            <a:srgbClr val="161D24"/>
          </a:solidFill>
          <a:ln w="15240">
            <a:solidFill>
              <a:srgbClr val="82A2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9692640" y="2468880"/>
            <a:ext cx="173736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600" b="1">
                <a:solidFill>
                  <a:srgbClr val="82A2B8"/>
                </a:solidFill>
                <a:latin typeface="Calibri"/>
              </a:rPr>
              <a:t>Dados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692640" y="3200400"/>
            <a:ext cx="1737360" cy="1645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100" b="0">
                <a:solidFill>
                  <a:srgbClr val="EAFBFF"/>
                </a:solidFill>
                <a:latin typeface="Calibri"/>
              </a:rPr>
              <a:t>Supabase Postgres
pgvector 384d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48640" y="5486400"/>
            <a:ext cx="1106424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300" b="1">
                <a:solidFill>
                  <a:srgbClr val="2EE6F6"/>
                </a:solidFill>
                <a:latin typeface="Calibri"/>
              </a:rPr>
              <a:t>Decisão chave: Fastify nunca chama Groq direto. Toda lógica de IA fica isolada no Blua.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12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365760"/>
            <a:ext cx="1106424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200" b="1">
                <a:solidFill>
                  <a:srgbClr val="2EE6F6"/>
                </a:solidFill>
                <a:latin typeface="Calibri"/>
              </a:rPr>
              <a:t>Stack tecnológico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051560"/>
            <a:ext cx="1097280" cy="28000"/>
          </a:xfrm>
          <a:prstGeom prst="rect">
            <a:avLst/>
          </a:prstGeom>
          <a:solidFill>
            <a:srgbClr val="2EE6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48640" y="6492240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0">
                <a:solidFill>
                  <a:srgbClr val="82A2B8"/>
                </a:solidFill>
                <a:latin typeface="Calibri"/>
              </a:rPr>
              <a:t>CarePlus Predict V2 · Grupo NextGen · FIAP TCC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698480" y="6492240"/>
            <a:ext cx="914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000" b="1">
                <a:solidFill>
                  <a:srgbClr val="82A2B8"/>
                </a:solidFill>
                <a:latin typeface="Calibri"/>
              </a:rPr>
              <a:t>8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463040"/>
            <a:ext cx="3657600" cy="2194560"/>
          </a:xfrm>
          <a:prstGeom prst="roundRect">
            <a:avLst>
              <a:gd name="adj" fmla="val 6000"/>
            </a:avLst>
          </a:prstGeom>
          <a:solidFill>
            <a:srgbClr val="161D24"/>
          </a:solidFill>
          <a:ln w="15240">
            <a:solidFill>
              <a:srgbClr val="2EE6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22959" y="1645920"/>
            <a:ext cx="32004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1">
                <a:solidFill>
                  <a:srgbClr val="2EE6F6"/>
                </a:solidFill>
                <a:latin typeface="Calibri"/>
              </a:rPr>
              <a:t>Frontend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59" y="2240280"/>
            <a:ext cx="3200400" cy="1371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>
                <a:solidFill>
                  <a:srgbClr val="EAFBFF"/>
                </a:solidFill>
                <a:latin typeface="Calibri"/>
              </a:rPr>
              <a:t>React + Vite (web)
React Native + Expo (mobile)
Design system com 3 temas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434840" y="1463040"/>
            <a:ext cx="3657600" cy="2194560"/>
          </a:xfrm>
          <a:prstGeom prst="roundRect">
            <a:avLst>
              <a:gd name="adj" fmla="val 6000"/>
            </a:avLst>
          </a:prstGeom>
          <a:solidFill>
            <a:srgbClr val="161D24"/>
          </a:solidFill>
          <a:ln w="15240">
            <a:solidFill>
              <a:srgbClr val="2EE6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709159" y="1645920"/>
            <a:ext cx="32004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1">
                <a:solidFill>
                  <a:srgbClr val="2EE6F6"/>
                </a:solidFill>
                <a:latin typeface="Calibri"/>
              </a:rPr>
              <a:t>Backend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709159" y="2240280"/>
            <a:ext cx="3200400" cy="1371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>
                <a:solidFill>
                  <a:srgbClr val="EAFBFF"/>
                </a:solidFill>
                <a:latin typeface="Calibri"/>
              </a:rPr>
              <a:t>Fastify (Node.js)
JWT + refresh tokens
Middleware de autenticação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321040" y="1463040"/>
            <a:ext cx="3657600" cy="2194560"/>
          </a:xfrm>
          <a:prstGeom prst="roundRect">
            <a:avLst>
              <a:gd name="adj" fmla="val 6000"/>
            </a:avLst>
          </a:prstGeom>
          <a:solidFill>
            <a:srgbClr val="161D24"/>
          </a:solidFill>
          <a:ln w="15240">
            <a:solidFill>
              <a:srgbClr val="2EE6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8595360" y="1645920"/>
            <a:ext cx="32004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1">
                <a:solidFill>
                  <a:srgbClr val="2EE6F6"/>
                </a:solidFill>
                <a:latin typeface="Calibri"/>
              </a:rPr>
              <a:t>ML / Embed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595360" y="2240280"/>
            <a:ext cx="3200400" cy="1371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>
                <a:solidFill>
                  <a:srgbClr val="EAFBFF"/>
                </a:solidFill>
                <a:latin typeface="Calibri"/>
              </a:rPr>
              <a:t>Sentence-Transformers
multilingual-e5-small (384 dim)
Serviço Python (Blua)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48640" y="3931920"/>
            <a:ext cx="3657600" cy="2194560"/>
          </a:xfrm>
          <a:prstGeom prst="roundRect">
            <a:avLst>
              <a:gd name="adj" fmla="val 6000"/>
            </a:avLst>
          </a:prstGeom>
          <a:solidFill>
            <a:srgbClr val="161D24"/>
          </a:solidFill>
          <a:ln w="15240">
            <a:solidFill>
              <a:srgbClr val="2EE6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22959" y="4114800"/>
            <a:ext cx="32004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1">
                <a:solidFill>
                  <a:srgbClr val="2EE6F6"/>
                </a:solidFill>
                <a:latin typeface="Calibri"/>
              </a:rPr>
              <a:t>LLM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2959" y="4709160"/>
            <a:ext cx="3200400" cy="1371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>
                <a:solidFill>
                  <a:srgbClr val="EAFBFF"/>
                </a:solidFill>
                <a:latin typeface="Calibri"/>
              </a:rPr>
              <a:t>Llama 3.1 70B (Meta)
Groq Cloud (~50ms)
30× mais barato que GPT-4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434840" y="3931920"/>
            <a:ext cx="3657600" cy="2194560"/>
          </a:xfrm>
          <a:prstGeom prst="roundRect">
            <a:avLst>
              <a:gd name="adj" fmla="val 6000"/>
            </a:avLst>
          </a:prstGeom>
          <a:solidFill>
            <a:srgbClr val="161D24"/>
          </a:solidFill>
          <a:ln w="15240">
            <a:solidFill>
              <a:srgbClr val="2EE6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4709159" y="4114800"/>
            <a:ext cx="32004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1">
                <a:solidFill>
                  <a:srgbClr val="2EE6F6"/>
                </a:solidFill>
                <a:latin typeface="Calibri"/>
              </a:rPr>
              <a:t>Banco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709159" y="4709160"/>
            <a:ext cx="3200400" cy="1371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>
                <a:solidFill>
                  <a:srgbClr val="EAFBFF"/>
                </a:solidFill>
                <a:latin typeface="Calibri"/>
              </a:rPr>
              <a:t>Supabase Postgres 15
pgvector para busca semântica
AWS us-east-1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321040" y="3931920"/>
            <a:ext cx="3657600" cy="2194560"/>
          </a:xfrm>
          <a:prstGeom prst="roundRect">
            <a:avLst>
              <a:gd name="adj" fmla="val 6000"/>
            </a:avLst>
          </a:prstGeom>
          <a:solidFill>
            <a:srgbClr val="161D24"/>
          </a:solidFill>
          <a:ln w="15240">
            <a:solidFill>
              <a:srgbClr val="2EE6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8595360" y="4114800"/>
            <a:ext cx="32004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1">
                <a:solidFill>
                  <a:srgbClr val="2EE6F6"/>
                </a:solidFill>
                <a:latin typeface="Calibri"/>
              </a:rPr>
              <a:t>Deploy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595360" y="4709160"/>
            <a:ext cx="3200400" cy="1371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>
                <a:solidFill>
                  <a:srgbClr val="EAFBFF"/>
                </a:solidFill>
                <a:latin typeface="Calibri"/>
              </a:rPr>
              <a:t>Railway (backend + Blua)
Vercel (web)
EAS Build (mobile)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12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365760"/>
            <a:ext cx="1106424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200" b="1">
                <a:solidFill>
                  <a:srgbClr val="2EE6F6"/>
                </a:solidFill>
                <a:latin typeface="Calibri"/>
              </a:rPr>
              <a:t>IA 1 · RAG para o médico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051560"/>
            <a:ext cx="1097280" cy="28000"/>
          </a:xfrm>
          <a:prstGeom prst="rect">
            <a:avLst/>
          </a:prstGeom>
          <a:solidFill>
            <a:srgbClr val="2EE6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48640" y="6492240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0">
                <a:solidFill>
                  <a:srgbClr val="82A2B8"/>
                </a:solidFill>
                <a:latin typeface="Calibri"/>
              </a:rPr>
              <a:t>CarePlus Predict V2 · Grupo NextGen · FIAP TCC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698480" y="6492240"/>
            <a:ext cx="914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000" b="1">
                <a:solidFill>
                  <a:srgbClr val="82A2B8"/>
                </a:solidFill>
                <a:latin typeface="Calibri"/>
              </a:rPr>
              <a:t>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371600"/>
            <a:ext cx="1106424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200" b="1">
                <a:solidFill>
                  <a:srgbClr val="2EE6F6"/>
                </a:solidFill>
                <a:latin typeface="Calibri"/>
              </a:rPr>
              <a:t>Resposta ancorada em fontes verificáveis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2011680"/>
            <a:ext cx="1106424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0">
                <a:solidFill>
                  <a:srgbClr val="EAFBFF"/>
                </a:solidFill>
                <a:latin typeface="Calibri"/>
              </a:rPr>
              <a:t>Diferente de LLMs comerciais que alucinam fontes, o RAG ancora cada resposta em trechos exatos dos protocolos clínicos curados pelo próprio especialista.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3657600"/>
            <a:ext cx="36576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200" b="1">
                <a:solidFill>
                  <a:srgbClr val="2EE6F6"/>
                </a:solidFill>
                <a:latin typeface="Calibri"/>
              </a:rPr>
              <a:t>▸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3657600"/>
            <a:ext cx="100584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1">
                <a:solidFill>
                  <a:srgbClr val="EAFBFF"/>
                </a:solidFill>
                <a:latin typeface="Calibri"/>
              </a:rPr>
              <a:t>PDFs curados pela equipe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4023360"/>
            <a:ext cx="100584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0">
                <a:solidFill>
                  <a:srgbClr val="82A2B8"/>
                </a:solidFill>
                <a:latin typeface="Calibri"/>
              </a:rPr>
              <a:t>Diretrizes, protocolos, manuais — sob controle clínico.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4526280"/>
            <a:ext cx="36576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200" b="1">
                <a:solidFill>
                  <a:srgbClr val="2EE6F6"/>
                </a:solidFill>
                <a:latin typeface="Calibri"/>
              </a:rPr>
              <a:t>▸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4526280"/>
            <a:ext cx="100584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1">
                <a:solidFill>
                  <a:srgbClr val="EAFBFF"/>
                </a:solidFill>
                <a:latin typeface="Calibri"/>
              </a:rPr>
              <a:t>Busca semântica em pgvector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05840" y="4892040"/>
            <a:ext cx="100584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0">
                <a:solidFill>
                  <a:srgbClr val="82A2B8"/>
                </a:solidFill>
                <a:latin typeface="Calibri"/>
              </a:rPr>
              <a:t>Vetores 384d, similaridade cosseno, top-K trechos.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5394960"/>
            <a:ext cx="36576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200" b="1">
                <a:solidFill>
                  <a:srgbClr val="2EE6F6"/>
                </a:solidFill>
                <a:latin typeface="Calibri"/>
              </a:rPr>
              <a:t>▸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05840" y="5394960"/>
            <a:ext cx="100584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1">
                <a:solidFill>
                  <a:srgbClr val="EAFBFF"/>
                </a:solidFill>
                <a:latin typeface="Calibri"/>
              </a:rPr>
              <a:t>Citação obrigatória de fontes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05840" y="5760720"/>
            <a:ext cx="100584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0">
                <a:solidFill>
                  <a:srgbClr val="82A2B8"/>
                </a:solidFill>
                <a:latin typeface="Calibri"/>
              </a:rPr>
              <a:t>Toda resposta vem com (Fonte 1), (Fonte 2)... verificáveis.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12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365760"/>
            <a:ext cx="1106424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200" b="1">
                <a:solidFill>
                  <a:srgbClr val="2EE6F6"/>
                </a:solidFill>
                <a:latin typeface="Calibri"/>
              </a:rPr>
              <a:t>RAG · Fluxo completo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051560"/>
            <a:ext cx="1097280" cy="28000"/>
          </a:xfrm>
          <a:prstGeom prst="rect">
            <a:avLst/>
          </a:prstGeom>
          <a:solidFill>
            <a:srgbClr val="2EE6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48640" y="6492240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0">
                <a:solidFill>
                  <a:srgbClr val="82A2B8"/>
                </a:solidFill>
                <a:latin typeface="Calibri"/>
              </a:rPr>
              <a:t>CarePlus Predict V2 · Grupo NextGen · FIAP TCC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698480" y="6492240"/>
            <a:ext cx="914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000" b="1">
                <a:solidFill>
                  <a:srgbClr val="82A2B8"/>
                </a:solidFill>
                <a:latin typeface="Calibri"/>
              </a:rPr>
              <a:t>10</a:t>
            </a:r>
          </a:p>
        </p:txBody>
      </p:sp>
      <p:pic>
        <p:nvPicPr>
          <p:cNvPr id="7" name="Picture 6" descr="diag_ra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00892" y="1371600"/>
            <a:ext cx="7789909" cy="475488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12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365760"/>
            <a:ext cx="1106424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200" b="1">
                <a:solidFill>
                  <a:srgbClr val="2EE6F6"/>
                </a:solidFill>
                <a:latin typeface="Calibri"/>
              </a:rPr>
              <a:t>RAG · Produto em uso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051560"/>
            <a:ext cx="1097280" cy="28000"/>
          </a:xfrm>
          <a:prstGeom prst="rect">
            <a:avLst/>
          </a:prstGeom>
          <a:solidFill>
            <a:srgbClr val="2EE6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48640" y="6492240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0">
                <a:solidFill>
                  <a:srgbClr val="82A2B8"/>
                </a:solidFill>
                <a:latin typeface="Calibri"/>
              </a:rPr>
              <a:t>CarePlus Predict V2 · Grupo NextGen · FIAP TCC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698480" y="6492240"/>
            <a:ext cx="914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000" b="1">
                <a:solidFill>
                  <a:srgbClr val="82A2B8"/>
                </a:solidFill>
                <a:latin typeface="Calibri"/>
              </a:rPr>
              <a:t>11</a:t>
            </a:r>
          </a:p>
        </p:txBody>
      </p:sp>
      <p:pic>
        <p:nvPicPr>
          <p:cNvPr id="7" name="Picture 6" descr="tela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89373" y="1371600"/>
            <a:ext cx="8412948" cy="438912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48640" y="5943600"/>
            <a:ext cx="1106424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400" b="1">
                <a:solidFill>
                  <a:srgbClr val="2EE6F6"/>
                </a:solidFill>
                <a:latin typeface="Calibri"/>
              </a:rPr>
              <a:t>3 protocolos indexados · 291 trechos vetorizados · resposta com fontes citadas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12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365760"/>
            <a:ext cx="1106424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200" b="1">
                <a:solidFill>
                  <a:srgbClr val="2EE6F6"/>
                </a:solidFill>
                <a:latin typeface="Calibri"/>
              </a:rPr>
              <a:t>IA 2 · Prescrição com HITL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051560"/>
            <a:ext cx="1097280" cy="28000"/>
          </a:xfrm>
          <a:prstGeom prst="rect">
            <a:avLst/>
          </a:prstGeom>
          <a:solidFill>
            <a:srgbClr val="2EE6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48640" y="6492240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0">
                <a:solidFill>
                  <a:srgbClr val="82A2B8"/>
                </a:solidFill>
                <a:latin typeface="Calibri"/>
              </a:rPr>
              <a:t>CarePlus Predict V2 · Grupo NextGen · FIAP TCC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698480" y="6492240"/>
            <a:ext cx="914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000" b="1">
                <a:solidFill>
                  <a:srgbClr val="82A2B8"/>
                </a:solidFill>
                <a:latin typeface="Calibri"/>
              </a:rPr>
              <a:t>12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371600"/>
            <a:ext cx="1106424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800" b="1">
                <a:solidFill>
                  <a:srgbClr val="2BFFC2"/>
                </a:solidFill>
                <a:latin typeface="Calibri"/>
              </a:rPr>
              <a:t>A IA propõe. O humano decide.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2194560"/>
            <a:ext cx="1106424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0">
                <a:solidFill>
                  <a:srgbClr val="EAFBFF"/>
                </a:solidFill>
                <a:latin typeface="Calibri"/>
              </a:rPr>
              <a:t>Resolução CFM 2.314/2022 exige supervisão humana em decisões clínicas com IA. Nosso desenho atende por arquitetura: nenhuma prescrição vira ação sem aprovação explícita.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3657600"/>
            <a:ext cx="3657600" cy="2377440"/>
          </a:xfrm>
          <a:prstGeom prst="roundRect">
            <a:avLst>
              <a:gd name="adj" fmla="val 6000"/>
            </a:avLst>
          </a:prstGeom>
          <a:solidFill>
            <a:srgbClr val="161D24"/>
          </a:solidFill>
          <a:ln w="15240">
            <a:solidFill>
              <a:srgbClr val="2BFF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22959" y="3840480"/>
            <a:ext cx="320040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>
                <a:solidFill>
                  <a:srgbClr val="2BFFC2"/>
                </a:solidFill>
                <a:latin typeface="Calibri"/>
              </a:rPr>
              <a:t>Pseudonimização nativa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59" y="4572000"/>
            <a:ext cx="3200400" cy="1371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>
                <a:solidFill>
                  <a:srgbClr val="EAFBFF"/>
                </a:solidFill>
                <a:latin typeface="Calibri"/>
              </a:rPr>
              <a:t>Revisor vê apenas código BNF (PT-9F2A-31), não o nome. Mitiga viés do médico.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434840" y="3657600"/>
            <a:ext cx="3657600" cy="2377440"/>
          </a:xfrm>
          <a:prstGeom prst="roundRect">
            <a:avLst>
              <a:gd name="adj" fmla="val 6000"/>
            </a:avLst>
          </a:prstGeom>
          <a:solidFill>
            <a:srgbClr val="161D24"/>
          </a:solidFill>
          <a:ln w="15240">
            <a:solidFill>
              <a:srgbClr val="2BFF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709159" y="3840480"/>
            <a:ext cx="320040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>
                <a:solidFill>
                  <a:srgbClr val="2BFFC2"/>
                </a:solidFill>
                <a:latin typeface="Calibri"/>
              </a:rPr>
              <a:t>Auditoria automática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709159" y="4572000"/>
            <a:ext cx="3200400" cy="1371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>
                <a:solidFill>
                  <a:srgbClr val="EAFBFF"/>
                </a:solidFill>
                <a:latin typeface="Calibri"/>
              </a:rPr>
              <a:t>Toda decisão grava em auditoria com ator, ação, entidade. 240 registros já gravados.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321040" y="3657600"/>
            <a:ext cx="3657600" cy="2377440"/>
          </a:xfrm>
          <a:prstGeom prst="roundRect">
            <a:avLst>
              <a:gd name="adj" fmla="val 6000"/>
            </a:avLst>
          </a:prstGeom>
          <a:solidFill>
            <a:srgbClr val="161D24"/>
          </a:solidFill>
          <a:ln w="15240">
            <a:solidFill>
              <a:srgbClr val="2BFF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595360" y="3840480"/>
            <a:ext cx="320040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>
                <a:solidFill>
                  <a:srgbClr val="2BFFC2"/>
                </a:solidFill>
                <a:latin typeface="Calibri"/>
              </a:rPr>
              <a:t>Sem caminho automático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595360" y="4572000"/>
            <a:ext cx="3200400" cy="1371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>
                <a:solidFill>
                  <a:srgbClr val="EAFBFF"/>
                </a:solidFill>
                <a:latin typeface="Calibri"/>
              </a:rPr>
              <a:t>Não existe rota técnica para prescrição virar ação sem clique humano explícito.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12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365760"/>
            <a:ext cx="1106424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200" b="1">
                <a:solidFill>
                  <a:srgbClr val="2EE6F6"/>
                </a:solidFill>
                <a:latin typeface="Calibri"/>
              </a:rPr>
              <a:t>HITL · Fluxo completo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051560"/>
            <a:ext cx="1097280" cy="28000"/>
          </a:xfrm>
          <a:prstGeom prst="rect">
            <a:avLst/>
          </a:prstGeom>
          <a:solidFill>
            <a:srgbClr val="2EE6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48640" y="6492240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0">
                <a:solidFill>
                  <a:srgbClr val="82A2B8"/>
                </a:solidFill>
                <a:latin typeface="Calibri"/>
              </a:rPr>
              <a:t>CarePlus Predict V2 · Grupo NextGen · FIAP TCC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698480" y="6492240"/>
            <a:ext cx="914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000" b="1">
                <a:solidFill>
                  <a:srgbClr val="82A2B8"/>
                </a:solidFill>
                <a:latin typeface="Calibri"/>
              </a:rPr>
              <a:t>13</a:t>
            </a:r>
          </a:p>
        </p:txBody>
      </p:sp>
      <p:pic>
        <p:nvPicPr>
          <p:cNvPr id="7" name="Picture 6" descr="diag_hit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00892" y="1371600"/>
            <a:ext cx="7789909" cy="475488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12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365760"/>
            <a:ext cx="1106424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200" b="1">
                <a:solidFill>
                  <a:srgbClr val="2EE6F6"/>
                </a:solidFill>
                <a:latin typeface="Calibri"/>
              </a:rPr>
              <a:t>HITL · Fila de revisão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051560"/>
            <a:ext cx="1097280" cy="28000"/>
          </a:xfrm>
          <a:prstGeom prst="rect">
            <a:avLst/>
          </a:prstGeom>
          <a:solidFill>
            <a:srgbClr val="2EE6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48640" y="6492240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0">
                <a:solidFill>
                  <a:srgbClr val="82A2B8"/>
                </a:solidFill>
                <a:latin typeface="Calibri"/>
              </a:rPr>
              <a:t>CarePlus Predict V2 · Grupo NextGen · FIAP TCC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698480" y="6492240"/>
            <a:ext cx="914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000" b="1">
                <a:solidFill>
                  <a:srgbClr val="82A2B8"/>
                </a:solidFill>
                <a:latin typeface="Calibri"/>
              </a:rPr>
              <a:t>14</a:t>
            </a:r>
          </a:p>
        </p:txBody>
      </p:sp>
      <p:pic>
        <p:nvPicPr>
          <p:cNvPr id="7" name="Picture 6" descr="tela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89373" y="1371600"/>
            <a:ext cx="8412948" cy="438912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48640" y="5943600"/>
            <a:ext cx="1106424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300" b="1">
                <a:solidFill>
                  <a:srgbClr val="2BFFC2"/>
                </a:solidFill>
                <a:latin typeface="Calibri"/>
              </a:rPr>
              <a:t>Pacientes identificados por PT-9F2A-31, PT-7C04-88, PT-1B5E-12 · revisor decide com 1 clique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12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365760"/>
            <a:ext cx="1106424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200" b="1">
                <a:solidFill>
                  <a:srgbClr val="2EE6F6"/>
                </a:solidFill>
                <a:latin typeface="Calibri"/>
              </a:rPr>
              <a:t>IA 3 · Chat clínico para o paciente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051560"/>
            <a:ext cx="1097280" cy="28000"/>
          </a:xfrm>
          <a:prstGeom prst="rect">
            <a:avLst/>
          </a:prstGeom>
          <a:solidFill>
            <a:srgbClr val="2EE6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48640" y="6492240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0">
                <a:solidFill>
                  <a:srgbClr val="82A2B8"/>
                </a:solidFill>
                <a:latin typeface="Calibri"/>
              </a:rPr>
              <a:t>CarePlus Predict V2 · Grupo NextGen · FIAP TCC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698480" y="6492240"/>
            <a:ext cx="914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000" b="1">
                <a:solidFill>
                  <a:srgbClr val="82A2B8"/>
                </a:solidFill>
                <a:latin typeface="Calibri"/>
              </a:rPr>
              <a:t>15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371600"/>
            <a:ext cx="1106424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200" b="1">
                <a:solidFill>
                  <a:srgbClr val="0179CF"/>
                </a:solidFill>
                <a:latin typeface="Calibri"/>
              </a:rPr>
              <a:t>Disponível 24/7. Contextual. Seguro.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2011680"/>
            <a:ext cx="1106424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0">
                <a:solidFill>
                  <a:srgbClr val="82A2B8"/>
                </a:solidFill>
                <a:latin typeface="Calibri"/>
              </a:rPr>
              <a:t>Backend prepara muito antes de chamar o LLM. Valida muito depois.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3108960"/>
            <a:ext cx="27432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1">
                <a:solidFill>
                  <a:srgbClr val="0179CF"/>
                </a:solidFill>
                <a:latin typeface="Calibri"/>
              </a:rPr>
              <a:t>Camada 1 · Sistema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383280" y="3154679"/>
            <a:ext cx="822960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0">
                <a:solidFill>
                  <a:srgbClr val="EAFBFF"/>
                </a:solidFill>
                <a:latin typeface="Calibri"/>
              </a:rPr>
              <a:t>Instruções restritivas. Não dá diagnóstico. Em emergências, orienta serviço médico.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4160520"/>
            <a:ext cx="27432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1">
                <a:solidFill>
                  <a:srgbClr val="0179CF"/>
                </a:solidFill>
                <a:latin typeface="Calibri"/>
              </a:rPr>
              <a:t>Camada 2 · Contexto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383280" y="4206240"/>
            <a:ext cx="822960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0">
                <a:solidFill>
                  <a:srgbClr val="EAFBFF"/>
                </a:solidFill>
                <a:latin typeface="Calibri"/>
              </a:rPr>
              <a:t>Anamnese + últimas 7 leituras de wearable + nome. Injetado em texto natural.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5212079"/>
            <a:ext cx="27432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1">
                <a:solidFill>
                  <a:srgbClr val="0179CF"/>
                </a:solidFill>
                <a:latin typeface="Calibri"/>
              </a:rPr>
              <a:t>Camada 3 · Histórico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383280" y="5257799"/>
            <a:ext cx="822960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0">
                <a:solidFill>
                  <a:srgbClr val="EAFBFF"/>
                </a:solidFill>
                <a:latin typeface="Calibri"/>
              </a:rPr>
              <a:t>Últimas N mensagens da thread. Continuidade do diálogo.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12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365760"/>
            <a:ext cx="1106424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200" b="1">
                <a:solidFill>
                  <a:srgbClr val="2EE6F6"/>
                </a:solidFill>
                <a:latin typeface="Calibri"/>
              </a:rPr>
              <a:t>Chat · Fluxo de contexto e classificação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051560"/>
            <a:ext cx="1097280" cy="28000"/>
          </a:xfrm>
          <a:prstGeom prst="rect">
            <a:avLst/>
          </a:prstGeom>
          <a:solidFill>
            <a:srgbClr val="2EE6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48640" y="6492240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0">
                <a:solidFill>
                  <a:srgbClr val="82A2B8"/>
                </a:solidFill>
                <a:latin typeface="Calibri"/>
              </a:rPr>
              <a:t>CarePlus Predict V2 · Grupo NextGen · FIAP TCC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698480" y="6492240"/>
            <a:ext cx="914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000" b="1">
                <a:solidFill>
                  <a:srgbClr val="82A2B8"/>
                </a:solidFill>
                <a:latin typeface="Calibri"/>
              </a:rPr>
              <a:t>16</a:t>
            </a:r>
          </a:p>
        </p:txBody>
      </p:sp>
      <p:pic>
        <p:nvPicPr>
          <p:cNvPr id="7" name="Picture 6" descr="diag_cha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75091" y="1280160"/>
            <a:ext cx="6241511" cy="502920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12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365760"/>
            <a:ext cx="1106424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200" b="1">
                <a:solidFill>
                  <a:srgbClr val="2EE6F6"/>
                </a:solidFill>
                <a:latin typeface="Calibri"/>
              </a:rPr>
              <a:t>Experiência do paciente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051560"/>
            <a:ext cx="1097280" cy="28000"/>
          </a:xfrm>
          <a:prstGeom prst="rect">
            <a:avLst/>
          </a:prstGeom>
          <a:solidFill>
            <a:srgbClr val="2EE6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48640" y="6492240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0">
                <a:solidFill>
                  <a:srgbClr val="82A2B8"/>
                </a:solidFill>
                <a:latin typeface="Calibri"/>
              </a:rPr>
              <a:t>CarePlus Predict V2 · Grupo NextGen · FIAP TCC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698480" y="6492240"/>
            <a:ext cx="914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000" b="1">
                <a:solidFill>
                  <a:srgbClr val="82A2B8"/>
                </a:solidFill>
                <a:latin typeface="Calibri"/>
              </a:rPr>
              <a:t>17</a:t>
            </a:r>
          </a:p>
        </p:txBody>
      </p:sp>
      <p:pic>
        <p:nvPicPr>
          <p:cNvPr id="7" name="Picture 6" descr="tela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0" y="1371600"/>
            <a:ext cx="2017058" cy="4572000"/>
          </a:xfrm>
          <a:prstGeom prst="rect">
            <a:avLst/>
          </a:prstGeom>
        </p:spPr>
      </p:pic>
      <p:pic>
        <p:nvPicPr>
          <p:cNvPr id="8" name="Picture 7" descr="tela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0" y="1371600"/>
            <a:ext cx="2017058" cy="45720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457200" y="6035040"/>
            <a:ext cx="54864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300" b="1">
                <a:solidFill>
                  <a:srgbClr val="EAFBFF"/>
                </a:solidFill>
                <a:latin typeface="Calibri"/>
              </a:rPr>
              <a:t>Login com aceite LGPD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6035040"/>
            <a:ext cx="54864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300" b="1">
                <a:solidFill>
                  <a:srgbClr val="EAFBFF"/>
                </a:solidFill>
                <a:latin typeface="Calibri"/>
              </a:rPr>
              <a:t>Score de saúde em tempo real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12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365760"/>
            <a:ext cx="1106424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200" b="1">
                <a:solidFill>
                  <a:srgbClr val="2EE6F6"/>
                </a:solidFill>
                <a:latin typeface="Calibri"/>
              </a:rPr>
              <a:t>Continuidade do cuidado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051560"/>
            <a:ext cx="1097280" cy="28000"/>
          </a:xfrm>
          <a:prstGeom prst="rect">
            <a:avLst/>
          </a:prstGeom>
          <a:solidFill>
            <a:srgbClr val="2EE6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48640" y="6492240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0">
                <a:solidFill>
                  <a:srgbClr val="82A2B8"/>
                </a:solidFill>
                <a:latin typeface="Calibri"/>
              </a:rPr>
              <a:t>CarePlus Predict V2 · Grupo NextGen · FIAP TCC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698480" y="6492240"/>
            <a:ext cx="914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000" b="1">
                <a:solidFill>
                  <a:srgbClr val="82A2B8"/>
                </a:solidFill>
                <a:latin typeface="Calibri"/>
              </a:rPr>
              <a:t>18</a:t>
            </a:r>
          </a:p>
        </p:txBody>
      </p:sp>
      <p:pic>
        <p:nvPicPr>
          <p:cNvPr id="7" name="Picture 6" descr="tela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46124" y="1280160"/>
            <a:ext cx="2299447" cy="521208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400800" y="1645920"/>
            <a:ext cx="521208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200" b="1">
                <a:solidFill>
                  <a:srgbClr val="2EE6F6"/>
                </a:solidFill>
                <a:latin typeface="Calibri"/>
              </a:rPr>
              <a:t>Métricas semanais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0" y="2377440"/>
            <a:ext cx="5212080" cy="1828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0">
                <a:solidFill>
                  <a:srgbClr val="EAFBFF"/>
                </a:solidFill>
                <a:latin typeface="Calibri"/>
              </a:rPr>
              <a:t>Dados capturados passivamente do wearable. Sem fricção de digitação. Paciente identifica padrões (queda no fim de semana, dia atípico) sem precisar interpretar números crus.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0" y="4572000"/>
            <a:ext cx="5212080" cy="1371600"/>
          </a:xfrm>
          <a:prstGeom prst="roundRect">
            <a:avLst>
              <a:gd name="adj" fmla="val 6000"/>
            </a:avLst>
          </a:prstGeom>
          <a:solidFill>
            <a:srgbClr val="161D24"/>
          </a:solidFill>
          <a:ln w="15240">
            <a:solidFill>
              <a:srgbClr val="2EE6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583680" y="4709160"/>
            <a:ext cx="48463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1">
                <a:solidFill>
                  <a:srgbClr val="2EE6F6"/>
                </a:solidFill>
                <a:latin typeface="Calibri"/>
              </a:rPr>
              <a:t>Maykon · membro do grupo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0" y="5120640"/>
            <a:ext cx="484632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>
                <a:solidFill>
                  <a:srgbClr val="EAFBFF"/>
                </a:solidFill>
                <a:latin typeface="Calibri"/>
              </a:rPr>
              <a:t>268 dias de dados reais Samsung Health sincronizados.
Primeiro paciente real da plataforma.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12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365760"/>
            <a:ext cx="1106424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200" b="1">
                <a:solidFill>
                  <a:srgbClr val="2EE6F6"/>
                </a:solidFill>
                <a:latin typeface="Calibri"/>
              </a:rPr>
              <a:t>Painel do médico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051560"/>
            <a:ext cx="1097280" cy="28000"/>
          </a:xfrm>
          <a:prstGeom prst="rect">
            <a:avLst/>
          </a:prstGeom>
          <a:solidFill>
            <a:srgbClr val="2EE6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48640" y="6492240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0">
                <a:solidFill>
                  <a:srgbClr val="82A2B8"/>
                </a:solidFill>
                <a:latin typeface="Calibri"/>
              </a:rPr>
              <a:t>CarePlus Predict V2 · Grupo NextGen · FIAP TCC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698480" y="6492240"/>
            <a:ext cx="914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000" b="1">
                <a:solidFill>
                  <a:srgbClr val="82A2B8"/>
                </a:solidFill>
                <a:latin typeface="Calibri"/>
              </a:rPr>
              <a:t>19</a:t>
            </a:r>
          </a:p>
        </p:txBody>
      </p:sp>
      <p:pic>
        <p:nvPicPr>
          <p:cNvPr id="7" name="Picture 6" descr="tela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89373" y="1371600"/>
            <a:ext cx="8412948" cy="438912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48640" y="5943600"/>
            <a:ext cx="1106424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300" b="1">
                <a:solidFill>
                  <a:srgbClr val="2EE6F6"/>
                </a:solidFill>
                <a:latin typeface="Calibri"/>
              </a:rPr>
              <a:t>Visão da carteira em 5 segundos: 5 pacientes · 3 em acompanhamento · 7.082 passos médios · 36 consultas/mês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12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365760"/>
            <a:ext cx="1106424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200" b="1">
                <a:solidFill>
                  <a:srgbClr val="2EE6F6"/>
                </a:solidFill>
                <a:latin typeface="Calibri"/>
              </a:rPr>
              <a:t>Visão por paciente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051560"/>
            <a:ext cx="1097280" cy="28000"/>
          </a:xfrm>
          <a:prstGeom prst="rect">
            <a:avLst/>
          </a:prstGeom>
          <a:solidFill>
            <a:srgbClr val="2EE6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48640" y="6492240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0">
                <a:solidFill>
                  <a:srgbClr val="82A2B8"/>
                </a:solidFill>
                <a:latin typeface="Calibri"/>
              </a:rPr>
              <a:t>CarePlus Predict V2 · Grupo NextGen · FIAP TCC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698480" y="6492240"/>
            <a:ext cx="914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000" b="1">
                <a:solidFill>
                  <a:srgbClr val="82A2B8"/>
                </a:solidFill>
                <a:latin typeface="Calibri"/>
              </a:rPr>
              <a:t>20</a:t>
            </a:r>
          </a:p>
        </p:txBody>
      </p:sp>
      <p:pic>
        <p:nvPicPr>
          <p:cNvPr id="7" name="Picture 6" descr="tela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89373" y="1371600"/>
            <a:ext cx="8412948" cy="438912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48640" y="5943600"/>
            <a:ext cx="1106424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300" b="1">
                <a:solidFill>
                  <a:srgbClr val="2BFFC2"/>
                </a:solidFill>
                <a:latin typeface="Calibri"/>
              </a:rPr>
              <a:t>Selo REAL · Apple Watch · diferenciação visual entre pacientes em uso real e demo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12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365760"/>
            <a:ext cx="1106424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200" b="1">
                <a:solidFill>
                  <a:srgbClr val="2EE6F6"/>
                </a:solidFill>
                <a:latin typeface="Calibri"/>
              </a:rPr>
              <a:t>Métricas agregadas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051560"/>
            <a:ext cx="1097280" cy="28000"/>
          </a:xfrm>
          <a:prstGeom prst="rect">
            <a:avLst/>
          </a:prstGeom>
          <a:solidFill>
            <a:srgbClr val="2EE6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48640" y="6492240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0">
                <a:solidFill>
                  <a:srgbClr val="82A2B8"/>
                </a:solidFill>
                <a:latin typeface="Calibri"/>
              </a:rPr>
              <a:t>CarePlus Predict V2 · Grupo NextGen · FIAP TCC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698480" y="6492240"/>
            <a:ext cx="914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000" b="1">
                <a:solidFill>
                  <a:srgbClr val="82A2B8"/>
                </a:solidFill>
                <a:latin typeface="Calibri"/>
              </a:rPr>
              <a:t>21</a:t>
            </a:r>
          </a:p>
        </p:txBody>
      </p:sp>
      <p:pic>
        <p:nvPicPr>
          <p:cNvPr id="7" name="Picture 6" descr="tela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89373" y="1371600"/>
            <a:ext cx="8412948" cy="438912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48640" y="5943600"/>
            <a:ext cx="1106424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300" b="1">
                <a:solidFill>
                  <a:srgbClr val="2EE6F6"/>
                </a:solidFill>
                <a:latin typeface="Calibri"/>
              </a:rPr>
              <a:t>Score médio da carteira · distribuição de risco · passos médios · tudo em tempo real no Postgres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12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365760"/>
            <a:ext cx="1106424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200" b="1">
                <a:solidFill>
                  <a:srgbClr val="2EE6F6"/>
                </a:solidFill>
                <a:latin typeface="Calibri"/>
              </a:rPr>
              <a:t>Compliance regulatória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051560"/>
            <a:ext cx="1097280" cy="28000"/>
          </a:xfrm>
          <a:prstGeom prst="rect">
            <a:avLst/>
          </a:prstGeom>
          <a:solidFill>
            <a:srgbClr val="2EE6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48640" y="6492240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0">
                <a:solidFill>
                  <a:srgbClr val="82A2B8"/>
                </a:solidFill>
                <a:latin typeface="Calibri"/>
              </a:rPr>
              <a:t>CarePlus Predict V2 · Grupo NextGen · FIAP TCC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698480" y="6492240"/>
            <a:ext cx="914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000" b="1">
                <a:solidFill>
                  <a:srgbClr val="82A2B8"/>
                </a:solidFill>
                <a:latin typeface="Calibri"/>
              </a:rPr>
              <a:t>22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371600"/>
            <a:ext cx="1106424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0">
                <a:solidFill>
                  <a:srgbClr val="82A2B8"/>
                </a:solidFill>
                <a:latin typeface="Calibri"/>
              </a:rPr>
              <a:t>Conformidade desde o desenho. Não foi adicionada depois.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2286000"/>
            <a:ext cx="5486400" cy="1828800"/>
          </a:xfrm>
          <a:prstGeom prst="roundRect">
            <a:avLst>
              <a:gd name="adj" fmla="val 6000"/>
            </a:avLst>
          </a:prstGeom>
          <a:solidFill>
            <a:srgbClr val="161D24"/>
          </a:solidFill>
          <a:ln w="15240">
            <a:solidFill>
              <a:srgbClr val="2BFF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22959" y="2468880"/>
            <a:ext cx="50292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700" b="1">
                <a:solidFill>
                  <a:srgbClr val="2BFFC2"/>
                </a:solidFill>
                <a:latin typeface="Calibri"/>
              </a:rPr>
              <a:t>CFM 2.314/2022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59" y="3108960"/>
            <a:ext cx="502920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>
                <a:solidFill>
                  <a:srgbClr val="EAFBFF"/>
                </a:solidFill>
                <a:latin typeface="Calibri"/>
              </a:rPr>
              <a:t>Supervisão humana em decisões clínicas com IA — HITL obrigatório por arquitetura.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63640" y="2286000"/>
            <a:ext cx="5486400" cy="1828800"/>
          </a:xfrm>
          <a:prstGeom prst="roundRect">
            <a:avLst>
              <a:gd name="adj" fmla="val 6000"/>
            </a:avLst>
          </a:prstGeom>
          <a:solidFill>
            <a:srgbClr val="161D24"/>
          </a:solidFill>
          <a:ln w="15240">
            <a:solidFill>
              <a:srgbClr val="2BFF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537959" y="2468880"/>
            <a:ext cx="50292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700" b="1">
                <a:solidFill>
                  <a:srgbClr val="2BFFC2"/>
                </a:solidFill>
                <a:latin typeface="Calibri"/>
              </a:rPr>
              <a:t>LGPD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37959" y="3108960"/>
            <a:ext cx="502920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>
                <a:solidFill>
                  <a:srgbClr val="EAFBFF"/>
                </a:solidFill>
                <a:latin typeface="Calibri"/>
              </a:rPr>
              <a:t>Pseudonimização nativa (códigos BNF), consentimentos rastreáveis, minimização de dados.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4297680"/>
            <a:ext cx="5486400" cy="1828800"/>
          </a:xfrm>
          <a:prstGeom prst="roundRect">
            <a:avLst>
              <a:gd name="adj" fmla="val 6000"/>
            </a:avLst>
          </a:prstGeom>
          <a:solidFill>
            <a:srgbClr val="161D24"/>
          </a:solidFill>
          <a:ln w="15240">
            <a:solidFill>
              <a:srgbClr val="2BFF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22959" y="4480560"/>
            <a:ext cx="50292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700" b="1">
                <a:solidFill>
                  <a:srgbClr val="2BFFC2"/>
                </a:solidFill>
                <a:latin typeface="Calibri"/>
              </a:rPr>
              <a:t>Auditoria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59" y="5120640"/>
            <a:ext cx="502920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>
                <a:solidFill>
                  <a:srgbClr val="EAFBFF"/>
                </a:solidFill>
                <a:latin typeface="Calibri"/>
              </a:rPr>
              <a:t>240 registros gravados em produção. Ação, ator, entidade, detalhe JSONB.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63640" y="4297680"/>
            <a:ext cx="5486400" cy="1828800"/>
          </a:xfrm>
          <a:prstGeom prst="roundRect">
            <a:avLst>
              <a:gd name="adj" fmla="val 6000"/>
            </a:avLst>
          </a:prstGeom>
          <a:solidFill>
            <a:srgbClr val="161D24"/>
          </a:solidFill>
          <a:ln w="15240">
            <a:solidFill>
              <a:srgbClr val="2BFF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537959" y="4480560"/>
            <a:ext cx="50292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700" b="1">
                <a:solidFill>
                  <a:srgbClr val="2BFFC2"/>
                </a:solidFill>
                <a:latin typeface="Calibri"/>
              </a:rPr>
              <a:t>Identificação do profissional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37959" y="5120640"/>
            <a:ext cx="502920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>
                <a:solidFill>
                  <a:srgbClr val="EAFBFF"/>
                </a:solidFill>
                <a:latin typeface="Calibri"/>
              </a:rPr>
              <a:t>revisado_por_medico + CRM em users. Responsabilidade clínica nominal.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12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365760"/>
            <a:ext cx="1106424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200" b="1">
                <a:solidFill>
                  <a:srgbClr val="2EE6F6"/>
                </a:solidFill>
                <a:latin typeface="Calibri"/>
              </a:rPr>
              <a:t>Diferencial competitivo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051560"/>
            <a:ext cx="1097280" cy="28000"/>
          </a:xfrm>
          <a:prstGeom prst="rect">
            <a:avLst/>
          </a:prstGeom>
          <a:solidFill>
            <a:srgbClr val="2EE6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48640" y="6492240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0">
                <a:solidFill>
                  <a:srgbClr val="82A2B8"/>
                </a:solidFill>
                <a:latin typeface="Calibri"/>
              </a:rPr>
              <a:t>CarePlus Predict V2 · Grupo NextGen · FIAP TCC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698480" y="6492240"/>
            <a:ext cx="914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000" b="1">
                <a:solidFill>
                  <a:srgbClr val="82A2B8"/>
                </a:solidFill>
                <a:latin typeface="Calibri"/>
              </a:rPr>
              <a:t>23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371600"/>
            <a:ext cx="11064240" cy="10972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200" b="1">
                <a:solidFill>
                  <a:srgbClr val="2EE6F6"/>
                </a:solidFill>
                <a:latin typeface="Calibri"/>
              </a:rPr>
              <a:t>A combinação RAG + HITL + Chat empático integrada é rara no mercado de healthtech brasileiro.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2743200"/>
            <a:ext cx="1106424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0">
                <a:solidFill>
                  <a:srgbClr val="82A2B8"/>
                </a:solidFill>
                <a:latin typeface="Calibri"/>
              </a:rPr>
              <a:t>Empresas tipicamente entregam UMA dessas peças isoladas: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3474720"/>
            <a:ext cx="365760" cy="457200"/>
          </a:xfrm>
          <a:prstGeom prst="roundRect">
            <a:avLst>
              <a:gd name="adj" fmla="val 6000"/>
            </a:avLst>
          </a:prstGeom>
          <a:solidFill>
            <a:srgbClr val="FF5277"/>
          </a:solidFill>
          <a:ln w="15240">
            <a:solidFill>
              <a:srgbClr val="FF52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097280" y="3520439"/>
            <a:ext cx="32004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1">
                <a:solidFill>
                  <a:srgbClr val="FF5277"/>
                </a:solidFill>
                <a:latin typeface="Calibri"/>
              </a:rPr>
              <a:t>Chatbots de saúde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0" y="3520439"/>
            <a:ext cx="73152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>
                <a:solidFill>
                  <a:srgbClr val="EAFBFF"/>
                </a:solidFill>
                <a:latin typeface="Calibri"/>
              </a:rPr>
              <a:t>Chat sem contexto clínico, sem RAG, sem HITL.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4160520"/>
            <a:ext cx="365760" cy="457200"/>
          </a:xfrm>
          <a:prstGeom prst="roundRect">
            <a:avLst>
              <a:gd name="adj" fmla="val 6000"/>
            </a:avLst>
          </a:prstGeom>
          <a:solidFill>
            <a:srgbClr val="FFD45E"/>
          </a:solidFill>
          <a:ln w="15240">
            <a:solidFill>
              <a:srgbClr val="FFD4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1097280" y="4206240"/>
            <a:ext cx="32004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1">
                <a:solidFill>
                  <a:srgbClr val="FFD45E"/>
                </a:solidFill>
                <a:latin typeface="Calibri"/>
              </a:rPr>
              <a:t>Sistemas de prescrição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4206240"/>
            <a:ext cx="73152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>
                <a:solidFill>
                  <a:srgbClr val="EAFBFF"/>
                </a:solidFill>
                <a:latin typeface="Calibri"/>
              </a:rPr>
              <a:t>HITL existe mas não tem chat nem IA contextual.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48640" y="4846320"/>
            <a:ext cx="365760" cy="457200"/>
          </a:xfrm>
          <a:prstGeom prst="roundRect">
            <a:avLst>
              <a:gd name="adj" fmla="val 6000"/>
            </a:avLst>
          </a:prstGeom>
          <a:solidFill>
            <a:srgbClr val="FFD45E"/>
          </a:solidFill>
          <a:ln w="15240">
            <a:solidFill>
              <a:srgbClr val="FFD4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1097280" y="4892040"/>
            <a:ext cx="32004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1">
                <a:solidFill>
                  <a:srgbClr val="FFD45E"/>
                </a:solidFill>
                <a:latin typeface="Calibri"/>
              </a:rPr>
              <a:t>Pesquisa clínica IA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0" y="4892040"/>
            <a:ext cx="73152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>
                <a:solidFill>
                  <a:srgbClr val="EAFBFF"/>
                </a:solidFill>
                <a:latin typeface="Calibri"/>
              </a:rPr>
              <a:t>RAG sobre literatura mas voltado para academia, não atendimento.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48640" y="5532120"/>
            <a:ext cx="365760" cy="457200"/>
          </a:xfrm>
          <a:prstGeom prst="roundRect">
            <a:avLst>
              <a:gd name="adj" fmla="val 6000"/>
            </a:avLst>
          </a:prstGeom>
          <a:solidFill>
            <a:srgbClr val="2BFFC2"/>
          </a:solidFill>
          <a:ln w="15240">
            <a:solidFill>
              <a:srgbClr val="2BFF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1097280" y="5577840"/>
            <a:ext cx="32004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1">
                <a:solidFill>
                  <a:srgbClr val="2BFFC2"/>
                </a:solidFill>
                <a:latin typeface="Calibri"/>
              </a:rPr>
              <a:t>CarePlus Predict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0" y="5577840"/>
            <a:ext cx="73152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>
                <a:solidFill>
                  <a:srgbClr val="EAFBFF"/>
                </a:solidFill>
                <a:latin typeface="Calibri"/>
              </a:rPr>
              <a:t>Os três integrados. Identidade visual única. Compliance LGPD/CFM nativa.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12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365760"/>
            <a:ext cx="1106424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200" b="1">
                <a:solidFill>
                  <a:srgbClr val="2EE6F6"/>
                </a:solidFill>
                <a:latin typeface="Calibri"/>
              </a:rPr>
              <a:t>Público-alvo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051560"/>
            <a:ext cx="1097280" cy="28000"/>
          </a:xfrm>
          <a:prstGeom prst="rect">
            <a:avLst/>
          </a:prstGeom>
          <a:solidFill>
            <a:srgbClr val="2EE6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48640" y="6492240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0">
                <a:solidFill>
                  <a:srgbClr val="82A2B8"/>
                </a:solidFill>
                <a:latin typeface="Calibri"/>
              </a:rPr>
              <a:t>CarePlus Predict V2 · Grupo NextGen · FIAP TCC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698480" y="6492240"/>
            <a:ext cx="914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000" b="1">
                <a:solidFill>
                  <a:srgbClr val="82A2B8"/>
                </a:solidFill>
                <a:latin typeface="Calibri"/>
              </a:rPr>
              <a:t>24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371600"/>
            <a:ext cx="1106424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0">
                <a:solidFill>
                  <a:srgbClr val="82A2B8"/>
                </a:solidFill>
                <a:latin typeface="Calibri"/>
              </a:rPr>
              <a:t>Três segmentos em ordem de facilidade de venda.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2286000"/>
            <a:ext cx="3657600" cy="3840480"/>
          </a:xfrm>
          <a:prstGeom prst="roundRect">
            <a:avLst>
              <a:gd name="adj" fmla="val 6000"/>
            </a:avLst>
          </a:prstGeom>
          <a:solidFill>
            <a:srgbClr val="161D24"/>
          </a:solidFill>
          <a:ln w="15240">
            <a:solidFill>
              <a:srgbClr val="2EE6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22959" y="2468880"/>
            <a:ext cx="32004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1">
                <a:solidFill>
                  <a:srgbClr val="2EE6F6"/>
                </a:solidFill>
                <a:latin typeface="Calibri"/>
              </a:rPr>
              <a:t>Clínicas preventivas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59" y="2926080"/>
            <a:ext cx="32004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>
                <a:solidFill>
                  <a:srgbClr val="82A2B8"/>
                </a:solidFill>
                <a:latin typeface="Calibri"/>
              </a:rPr>
              <a:t>ALVO PRIMÁRIO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59" y="3474720"/>
            <a:ext cx="3200400" cy="2560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>
                <a:solidFill>
                  <a:srgbClr val="EAFBFF"/>
                </a:solidFill>
                <a:latin typeface="Calibri"/>
              </a:rPr>
              <a:t>Decisão rápida. Pacientes engajados com wearable.
Ticket R$ 200-600/paciente/ano.
Exemplos: Dasa Preventive, Einstein Connect.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434840" y="2286000"/>
            <a:ext cx="3657600" cy="3840480"/>
          </a:xfrm>
          <a:prstGeom prst="roundRect">
            <a:avLst>
              <a:gd name="adj" fmla="val 6000"/>
            </a:avLst>
          </a:prstGeom>
          <a:solidFill>
            <a:srgbClr val="161D24"/>
          </a:solidFill>
          <a:ln w="15240">
            <a:solidFill>
              <a:srgbClr val="2BFF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709159" y="2468880"/>
            <a:ext cx="32004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1">
                <a:solidFill>
                  <a:srgbClr val="2BFFC2"/>
                </a:solidFill>
                <a:latin typeface="Calibri"/>
              </a:rPr>
              <a:t>Operadoras de saúde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709159" y="2926080"/>
            <a:ext cx="32004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>
                <a:solidFill>
                  <a:srgbClr val="82A2B8"/>
                </a:solidFill>
                <a:latin typeface="Calibri"/>
              </a:rPr>
              <a:t>Programas de crônicos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709159" y="3474720"/>
            <a:ext cx="3200400" cy="2560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>
                <a:solidFill>
                  <a:srgbClr val="EAFBFF"/>
                </a:solidFill>
                <a:latin typeface="Calibri"/>
              </a:rPr>
              <a:t>Hipertensão, diabetes e DPOC = 40-60% do custo assistencial.
ROI mensurável em redução de internações.
Ciclo 6-12 meses, contratos volumosos.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321040" y="2286000"/>
            <a:ext cx="3657600" cy="3840480"/>
          </a:xfrm>
          <a:prstGeom prst="roundRect">
            <a:avLst>
              <a:gd name="adj" fmla="val 6000"/>
            </a:avLst>
          </a:prstGeom>
          <a:solidFill>
            <a:srgbClr val="161D24"/>
          </a:solidFill>
          <a:ln w="15240">
            <a:solidFill>
              <a:srgbClr val="FFD4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595360" y="2468880"/>
            <a:ext cx="32004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1">
                <a:solidFill>
                  <a:srgbClr val="FFD45E"/>
                </a:solidFill>
                <a:latin typeface="Calibri"/>
              </a:rPr>
              <a:t>Profissionais autônomos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595360" y="2926080"/>
            <a:ext cx="32004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>
                <a:solidFill>
                  <a:srgbClr val="82A2B8"/>
                </a:solidFill>
                <a:latin typeface="Calibri"/>
              </a:rPr>
              <a:t>B2C2B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595360" y="3474720"/>
            <a:ext cx="3200400" cy="2560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>
                <a:solidFill>
                  <a:srgbClr val="EAFBFF"/>
                </a:solidFill>
                <a:latin typeface="Calibri"/>
              </a:rPr>
              <a:t>Cardiologistas, endocrinologistas, geriatras.
Ticket baixo, escala via marketplace ou white-label.
Venda direta médico → paciente.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12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365760"/>
            <a:ext cx="1106424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200" b="1">
                <a:solidFill>
                  <a:srgbClr val="2EE6F6"/>
                </a:solidFill>
                <a:latin typeface="Calibri"/>
              </a:rPr>
              <a:t>Estado atual em números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051560"/>
            <a:ext cx="1097280" cy="28000"/>
          </a:xfrm>
          <a:prstGeom prst="rect">
            <a:avLst/>
          </a:prstGeom>
          <a:solidFill>
            <a:srgbClr val="2EE6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48640" y="6492240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0">
                <a:solidFill>
                  <a:srgbClr val="82A2B8"/>
                </a:solidFill>
                <a:latin typeface="Calibri"/>
              </a:rPr>
              <a:t>CarePlus Predict V2 · Grupo NextGen · FIAP TCC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698480" y="6492240"/>
            <a:ext cx="914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000" b="1">
                <a:solidFill>
                  <a:srgbClr val="82A2B8"/>
                </a:solidFill>
                <a:latin typeface="Calibri"/>
              </a:rPr>
              <a:t>25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371600"/>
            <a:ext cx="1106424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0">
                <a:solidFill>
                  <a:srgbClr val="82A2B8"/>
                </a:solidFill>
                <a:latin typeface="Calibri"/>
              </a:rPr>
              <a:t>Dados reais de produção. Não estimativas.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2560320"/>
            <a:ext cx="2651760" cy="3200400"/>
          </a:xfrm>
          <a:prstGeom prst="roundRect">
            <a:avLst>
              <a:gd name="adj" fmla="val 6000"/>
            </a:avLst>
          </a:prstGeom>
          <a:solidFill>
            <a:srgbClr val="161D24"/>
          </a:solidFill>
          <a:ln w="15240">
            <a:solidFill>
              <a:srgbClr val="2EE6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31520" y="2743200"/>
            <a:ext cx="2286000" cy="1280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6000" b="1">
                <a:solidFill>
                  <a:srgbClr val="2EE6F6"/>
                </a:solidFill>
                <a:latin typeface="Calibri"/>
              </a:rPr>
              <a:t>164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4297680"/>
            <a:ext cx="22860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500" b="1">
                <a:solidFill>
                  <a:srgbClr val="EAFBFF"/>
                </a:solidFill>
                <a:latin typeface="Calibri"/>
              </a:rPr>
              <a:t>chunks vetoriais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4846320"/>
            <a:ext cx="228600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100" b="0">
                <a:solidFill>
                  <a:srgbClr val="82A2B8"/>
                </a:solidFill>
                <a:latin typeface="Calibri"/>
              </a:rPr>
              <a:t>indexados de 3 protocolos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474720" y="2560320"/>
            <a:ext cx="2651760" cy="3200400"/>
          </a:xfrm>
          <a:prstGeom prst="roundRect">
            <a:avLst>
              <a:gd name="adj" fmla="val 6000"/>
            </a:avLst>
          </a:prstGeom>
          <a:solidFill>
            <a:srgbClr val="161D24"/>
          </a:solidFill>
          <a:ln w="15240">
            <a:solidFill>
              <a:srgbClr val="2EE6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3657600" y="2743200"/>
            <a:ext cx="2286000" cy="1280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6000" b="1">
                <a:solidFill>
                  <a:srgbClr val="2EE6F6"/>
                </a:solidFill>
                <a:latin typeface="Calibri"/>
              </a:rPr>
              <a:t>116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0" y="4297680"/>
            <a:ext cx="22860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500" b="1">
                <a:solidFill>
                  <a:srgbClr val="EAFBFF"/>
                </a:solidFill>
                <a:latin typeface="Calibri"/>
              </a:rPr>
              <a:t>mensagens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57600" y="4846320"/>
            <a:ext cx="228600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100" b="0">
                <a:solidFill>
                  <a:srgbClr val="82A2B8"/>
                </a:solidFill>
                <a:latin typeface="Calibri"/>
              </a:rPr>
              <a:t>trocadas em 25 threads de chat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0" y="2560320"/>
            <a:ext cx="2651760" cy="3200400"/>
          </a:xfrm>
          <a:prstGeom prst="roundRect">
            <a:avLst>
              <a:gd name="adj" fmla="val 6000"/>
            </a:avLst>
          </a:prstGeom>
          <a:solidFill>
            <a:srgbClr val="161D24"/>
          </a:solidFill>
          <a:ln w="15240">
            <a:solidFill>
              <a:srgbClr val="2EE6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583680" y="2743200"/>
            <a:ext cx="2286000" cy="1280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6000" b="1">
                <a:solidFill>
                  <a:srgbClr val="2EE6F6"/>
                </a:solidFill>
                <a:latin typeface="Calibri"/>
              </a:rPr>
              <a:t>240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83680" y="4297680"/>
            <a:ext cx="22860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500" b="1">
                <a:solidFill>
                  <a:srgbClr val="EAFBFF"/>
                </a:solidFill>
                <a:latin typeface="Calibri"/>
              </a:rPr>
              <a:t>registros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83680" y="4846320"/>
            <a:ext cx="228600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100" b="0">
                <a:solidFill>
                  <a:srgbClr val="82A2B8"/>
                </a:solidFill>
                <a:latin typeface="Calibri"/>
              </a:rPr>
              <a:t>de auditoria gravados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326880" y="2560320"/>
            <a:ext cx="2651760" cy="3200400"/>
          </a:xfrm>
          <a:prstGeom prst="roundRect">
            <a:avLst>
              <a:gd name="adj" fmla="val 6000"/>
            </a:avLst>
          </a:prstGeom>
          <a:solidFill>
            <a:srgbClr val="161D24"/>
          </a:solidFill>
          <a:ln w="15240">
            <a:solidFill>
              <a:srgbClr val="2EE6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9509760" y="2743200"/>
            <a:ext cx="2286000" cy="1280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6000" b="1">
                <a:solidFill>
                  <a:srgbClr val="2EE6F6"/>
                </a:solidFill>
                <a:latin typeface="Calibri"/>
              </a:rPr>
              <a:t>268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509760" y="4297680"/>
            <a:ext cx="22860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500" b="1">
                <a:solidFill>
                  <a:srgbClr val="EAFBFF"/>
                </a:solidFill>
                <a:latin typeface="Calibri"/>
              </a:rPr>
              <a:t>dias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509760" y="4846320"/>
            <a:ext cx="228600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100" b="0">
                <a:solidFill>
                  <a:srgbClr val="82A2B8"/>
                </a:solidFill>
                <a:latin typeface="Calibri"/>
              </a:rPr>
              <a:t>de dados reais Samsung Health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48640" y="6035040"/>
            <a:ext cx="1106424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300" b="1">
                <a:solidFill>
                  <a:srgbClr val="2EE6F6"/>
                </a:solidFill>
                <a:latin typeface="Calibri"/>
              </a:rPr>
              <a:t>Primeiro paciente real (Maykon) é membro do próprio grupo NextGen.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12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365760"/>
            <a:ext cx="1106424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200" b="1">
                <a:solidFill>
                  <a:srgbClr val="2EE6F6"/>
                </a:solidFill>
                <a:latin typeface="Calibri"/>
              </a:rPr>
              <a:t>Honestidade técnica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051560"/>
            <a:ext cx="1097280" cy="28000"/>
          </a:xfrm>
          <a:prstGeom prst="rect">
            <a:avLst/>
          </a:prstGeom>
          <a:solidFill>
            <a:srgbClr val="2EE6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48640" y="6492240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0">
                <a:solidFill>
                  <a:srgbClr val="82A2B8"/>
                </a:solidFill>
                <a:latin typeface="Calibri"/>
              </a:rPr>
              <a:t>CarePlus Predict V2 · Grupo NextGen · FIAP TCC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698480" y="6492240"/>
            <a:ext cx="914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000" b="1">
                <a:solidFill>
                  <a:srgbClr val="82A2B8"/>
                </a:solidFill>
                <a:latin typeface="Calibri"/>
              </a:rPr>
              <a:t>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371600"/>
            <a:ext cx="1106424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0">
                <a:solidFill>
                  <a:srgbClr val="82A2B8"/>
                </a:solidFill>
                <a:latin typeface="Calibri"/>
              </a:rPr>
              <a:t>O que está pronto, o que ainda precisa amadurecer.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2560320"/>
            <a:ext cx="11064240" cy="1097280"/>
          </a:xfrm>
          <a:prstGeom prst="roundRect">
            <a:avLst>
              <a:gd name="adj" fmla="val 6000"/>
            </a:avLst>
          </a:prstGeom>
          <a:solidFill>
            <a:srgbClr val="161D24"/>
          </a:solidFill>
          <a:ln w="15240">
            <a:solidFill>
              <a:srgbClr val="2BFF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22960" y="2697479"/>
            <a:ext cx="73152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5000" b="1">
                <a:solidFill>
                  <a:srgbClr val="2BFFC2"/>
                </a:solidFill>
                <a:latin typeface="Calibri"/>
              </a:rPr>
              <a:t>✓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45920" y="2743200"/>
            <a:ext cx="36576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1">
                <a:solidFill>
                  <a:srgbClr val="EAFBFF"/>
                </a:solidFill>
                <a:latin typeface="Calibri"/>
              </a:rPr>
              <a:t>RAG · IA do Médico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45920" y="3200400"/>
            <a:ext cx="91440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0">
                <a:solidFill>
                  <a:srgbClr val="82A2B8"/>
                </a:solidFill>
                <a:latin typeface="Calibri"/>
              </a:rPr>
              <a:t>100% funcional em produção. Validado com query real.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3840479"/>
            <a:ext cx="11064240" cy="1097280"/>
          </a:xfrm>
          <a:prstGeom prst="roundRect">
            <a:avLst>
              <a:gd name="adj" fmla="val 6000"/>
            </a:avLst>
          </a:prstGeom>
          <a:solidFill>
            <a:srgbClr val="161D24"/>
          </a:solidFill>
          <a:ln w="15240">
            <a:solidFill>
              <a:srgbClr val="FFD4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822960" y="3977639"/>
            <a:ext cx="73152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5000" b="1">
                <a:solidFill>
                  <a:srgbClr val="FFD45E"/>
                </a:solidFill>
                <a:latin typeface="Calibri"/>
              </a:rPr>
              <a:t>◐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645920" y="4023359"/>
            <a:ext cx="36576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1">
                <a:solidFill>
                  <a:srgbClr val="EAFBFF"/>
                </a:solidFill>
                <a:latin typeface="Calibri"/>
              </a:rPr>
              <a:t>HITL · Prescrição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645920" y="4480559"/>
            <a:ext cx="91440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0">
                <a:solidFill>
                  <a:srgbClr val="82A2B8"/>
                </a:solidFill>
                <a:latin typeface="Calibri"/>
              </a:rPr>
              <a:t>Backend e UI prontos. Gatilho automático ainda em maturação.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48640" y="5120640"/>
            <a:ext cx="11064240" cy="1097280"/>
          </a:xfrm>
          <a:prstGeom prst="roundRect">
            <a:avLst>
              <a:gd name="adj" fmla="val 6000"/>
            </a:avLst>
          </a:prstGeom>
          <a:solidFill>
            <a:srgbClr val="161D24"/>
          </a:solidFill>
          <a:ln w="15240">
            <a:solidFill>
              <a:srgbClr val="2BFF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22960" y="5257800"/>
            <a:ext cx="73152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5000" b="1">
                <a:solidFill>
                  <a:srgbClr val="2BFFC2"/>
                </a:solidFill>
                <a:latin typeface="Calibri"/>
              </a:rPr>
              <a:t>✓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645920" y="5303520"/>
            <a:ext cx="36576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1">
                <a:solidFill>
                  <a:srgbClr val="EAFBFF"/>
                </a:solidFill>
                <a:latin typeface="Calibri"/>
              </a:rPr>
              <a:t>Chat · Paciente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645920" y="5760720"/>
            <a:ext cx="91440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0">
                <a:solidFill>
                  <a:srgbClr val="82A2B8"/>
                </a:solidFill>
                <a:latin typeface="Calibri"/>
              </a:rPr>
              <a:t>End-to-end funcional. Red flags por keyword (espaço pra evoluir).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12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365760"/>
            <a:ext cx="1106424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200" b="1">
                <a:solidFill>
                  <a:srgbClr val="2EE6F6"/>
                </a:solidFill>
                <a:latin typeface="Calibri"/>
              </a:rPr>
              <a:t>Roadmap · próximos 30 dias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051560"/>
            <a:ext cx="1097280" cy="28000"/>
          </a:xfrm>
          <a:prstGeom prst="rect">
            <a:avLst/>
          </a:prstGeom>
          <a:solidFill>
            <a:srgbClr val="2EE6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48640" y="6492240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0">
                <a:solidFill>
                  <a:srgbClr val="82A2B8"/>
                </a:solidFill>
                <a:latin typeface="Calibri"/>
              </a:rPr>
              <a:t>CarePlus Predict V2 · Grupo NextGen · FIAP TCC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698480" y="6492240"/>
            <a:ext cx="914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000" b="1">
                <a:solidFill>
                  <a:srgbClr val="82A2B8"/>
                </a:solidFill>
                <a:latin typeface="Calibri"/>
              </a:rPr>
              <a:t>27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371600"/>
            <a:ext cx="1106424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000" b="1">
                <a:solidFill>
                  <a:srgbClr val="2EE6F6"/>
                </a:solidFill>
                <a:latin typeface="Calibri"/>
              </a:rPr>
              <a:t>Piloto controlado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2286000"/>
            <a:ext cx="1106424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0">
                <a:solidFill>
                  <a:srgbClr val="EAFBFF"/>
                </a:solidFill>
                <a:latin typeface="Calibri"/>
              </a:rPr>
              <a:t>Uma clínica parceira · 50 a 200 pacientes voluntários · 5 a 15 médicos.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3383280"/>
            <a:ext cx="36576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000" b="1">
                <a:solidFill>
                  <a:srgbClr val="2EE6F6"/>
                </a:solidFill>
                <a:latin typeface="Calibri"/>
              </a:rPr>
              <a:t>▸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3429000"/>
            <a:ext cx="105156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0">
                <a:solidFill>
                  <a:srgbClr val="EAFBFF"/>
                </a:solidFill>
                <a:latin typeface="Calibri"/>
              </a:rPr>
              <a:t>Refinar gatilho automático de prescrição com casos clínicos reais.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3931920"/>
            <a:ext cx="36576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000" b="1">
                <a:solidFill>
                  <a:srgbClr val="2EE6F6"/>
                </a:solidFill>
                <a:latin typeface="Calibri"/>
              </a:rPr>
              <a:t>▸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3977639"/>
            <a:ext cx="105156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0">
                <a:solidFill>
                  <a:srgbClr val="EAFBFF"/>
                </a:solidFill>
                <a:latin typeface="Calibri"/>
              </a:rPr>
              <a:t>Validar red flags por keyword versus casos verdadeiros.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4480560"/>
            <a:ext cx="36576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000" b="1">
                <a:solidFill>
                  <a:srgbClr val="2EE6F6"/>
                </a:solidFill>
                <a:latin typeface="Calibri"/>
              </a:rPr>
              <a:t>▸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05840" y="4526280"/>
            <a:ext cx="105156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0">
                <a:solidFill>
                  <a:srgbClr val="EAFBFF"/>
                </a:solidFill>
                <a:latin typeface="Calibri"/>
              </a:rPr>
              <a:t>Ajustar tom da IA paciente conforme feedback dos usuários.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48640" y="5303520"/>
            <a:ext cx="11064240" cy="914400"/>
          </a:xfrm>
          <a:prstGeom prst="roundRect">
            <a:avLst>
              <a:gd name="adj" fmla="val 6000"/>
            </a:avLst>
          </a:prstGeom>
          <a:solidFill>
            <a:srgbClr val="161D24"/>
          </a:solidFill>
          <a:ln w="15240">
            <a:solidFill>
              <a:srgbClr val="2BFF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22960" y="5440680"/>
            <a:ext cx="10515600" cy="6400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400" b="1">
                <a:solidFill>
                  <a:srgbClr val="2BFFC2"/>
                </a:solidFill>
                <a:latin typeface="Calibri"/>
              </a:rPr>
              <a:t>Critério de saída: 30 dias sem incidentes graves · NPS &gt; 50 · médico vê valor pra pagar.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12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1828800" y="1645920"/>
            <a:ext cx="8534095" cy="3657600"/>
          </a:xfrm>
          <a:prstGeom prst="roundRect">
            <a:avLst>
              <a:gd name="adj" fmla="val 6000"/>
            </a:avLst>
          </a:prstGeom>
          <a:solidFill>
            <a:srgbClr val="161D24"/>
          </a:solidFill>
          <a:ln w="15240">
            <a:solidFill>
              <a:srgbClr val="2EE6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2103120" y="2103120"/>
            <a:ext cx="7955279" cy="10972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6000" b="1">
                <a:solidFill>
                  <a:srgbClr val="2EE6F6"/>
                </a:solidFill>
                <a:latin typeface="Calibri"/>
              </a:rPr>
              <a:t>Obrigado.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103120" y="3657600"/>
            <a:ext cx="7955279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2200" b="1">
                <a:solidFill>
                  <a:srgbClr val="EAFBFF"/>
                </a:solidFill>
                <a:latin typeface="Calibri"/>
              </a:rPr>
              <a:t>Grupo NextGen · FIAP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103120" y="4297680"/>
            <a:ext cx="7955279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600" b="0">
                <a:solidFill>
                  <a:srgbClr val="82A2B8"/>
                </a:solidFill>
                <a:latin typeface="Calibri"/>
              </a:rPr>
              <a:t>Prof. Dr. Allan Roberto Molto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103120" y="4846320"/>
            <a:ext cx="7955279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400" b="0">
                <a:solidFill>
                  <a:srgbClr val="82A2B8"/>
                </a:solidFill>
                <a:latin typeface="Calibri"/>
              </a:rPr>
              <a:t>Junho de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5943600"/>
            <a:ext cx="1106424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200" b="1">
                <a:solidFill>
                  <a:srgbClr val="2EE6F6"/>
                </a:solidFill>
                <a:latin typeface="Calibri"/>
              </a:rPr>
              <a:t>CarePlus Predict V2 · Telessaúde com IA fundamentada em evidência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1667</Words>
  <Application>Microsoft Office PowerPoint</Application>
  <PresentationFormat>Widescreen</PresentationFormat>
  <Paragraphs>262</Paragraphs>
  <Slides>28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28</vt:i4>
      </vt:variant>
    </vt:vector>
  </HeadingPairs>
  <TitlesOfParts>
    <vt:vector size="31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Maykon Fonseca</cp:lastModifiedBy>
  <cp:revision>2</cp:revision>
  <dcterms:created xsi:type="dcterms:W3CDTF">2013-01-27T09:14:16Z</dcterms:created>
  <dcterms:modified xsi:type="dcterms:W3CDTF">2026-06-10T01:53:16Z</dcterms:modified>
  <cp:category/>
</cp:coreProperties>
</file>